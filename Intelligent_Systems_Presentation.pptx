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60" r:id="rId5"/>
    <p:sldId id="261" r:id="rId6"/>
    <p:sldId id="262" r:id="rId7"/>
    <p:sldId id="263" r:id="rId8"/>
    <p:sldId id="265" r:id="rId9"/>
    <p:sldId id="266" r:id="rId10"/>
    <p:sldId id="267" r:id="rId11"/>
    <p:sldId id="268" r:id="rId12"/>
    <p:sldId id="269" r:id="rId13"/>
  </p:sldIdLst>
  <p:sldSz cx="12192000" cy="6858000"/>
  <p:notesSz cx="6858000" cy="9144000"/>
  <p:embeddedFontLst>
    <p:embeddedFont>
      <p:font typeface="Cambria" panose="02040503050406030204" pitchFamily="18" charset="0"/>
      <p:regular r:id="rId15"/>
      <p:bold r:id="rId16"/>
      <p:italic r:id="rId17"/>
      <p:boldItalic r:id="rId18"/>
    </p:embeddedFont>
    <p:embeddedFont>
      <p:font typeface="Century Gothic" panose="020B050202020202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SU5D1DrxYTR9E7MQDmOKGEvaah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F7DFF3-7A15-44E8-8414-0A41859CD3CF}">
  <a:tblStyle styleId="{0DF7DFF3-7A15-44E8-8414-0A41859CD3CF}" styleName="Table_0">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E7E6"/>
          </a:solidFill>
        </a:fill>
      </a:tcStyle>
    </a:wholeTbl>
    <a:band1H>
      <a:tcTxStyle/>
      <a:tcStyle>
        <a:tcBdr/>
        <a:fill>
          <a:solidFill>
            <a:srgbClr val="E0CCCA"/>
          </a:solidFill>
        </a:fill>
      </a:tcStyle>
    </a:band1H>
    <a:band2H>
      <a:tcTxStyle/>
      <a:tcStyle>
        <a:tcBdr/>
      </a:tcStyle>
    </a:band2H>
    <a:band1V>
      <a:tcTxStyle/>
      <a:tcStyle>
        <a:tcBdr/>
        <a:fill>
          <a:solidFill>
            <a:srgbClr val="E0CCCA"/>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1"/>
          </a:solidFill>
        </a:fill>
      </a:tcStyle>
    </a:lastCol>
    <a:firstCol>
      <a:tcTxStyle b="on" i="off">
        <a:font>
          <a:latin typeface="Century Gothic"/>
          <a:ea typeface="Century Gothic"/>
          <a:cs typeface="Century Gothic"/>
        </a:font>
        <a:schemeClr val="lt1"/>
      </a:tcTxStyle>
      <a:tcStyle>
        <a:tcBdr/>
        <a:fill>
          <a:solidFill>
            <a:schemeClr val="accent1"/>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GB" dirty="0"/>
          </a:p>
        </p:txBody>
      </p:sp>
      <p:sp>
        <p:nvSpPr>
          <p:cNvPr id="162" name="Google Shape;16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175" name="Google Shape;17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181" name="Google Shape;18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193" name="Google Shape;19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199" name="Google Shape;19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205" name="Google Shape;20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211" name="Google Shape;21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224" name="Google Shape;2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231" name="Google Shape;23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238" name="Google Shape;23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245" name="Google Shape;245;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
        <p:nvSpPr>
          <p:cNvPr id="251" name="Google Shape;251;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8"/>
        <p:cNvGrpSpPr/>
        <p:nvPr/>
      </p:nvGrpSpPr>
      <p:grpSpPr>
        <a:xfrm>
          <a:off x="0" y="0"/>
          <a:ext cx="0" cy="0"/>
          <a:chOff x="0" y="0"/>
          <a:chExt cx="0" cy="0"/>
        </a:xfrm>
      </p:grpSpPr>
      <p:sp>
        <p:nvSpPr>
          <p:cNvPr id="39" name="Google Shape;39;p16"/>
          <p:cNvSpPr txBox="1">
            <a:spLocks noGrp="1"/>
          </p:cNvSpPr>
          <p:nvPr>
            <p:ph type="ctrTitle"/>
          </p:nvPr>
        </p:nvSpPr>
        <p:spPr>
          <a:xfrm>
            <a:off x="2589213" y="2514600"/>
            <a:ext cx="8915399" cy="22627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6"/>
          <p:cNvSpPr txBox="1">
            <a:spLocks noGrp="1"/>
          </p:cNvSpPr>
          <p:nvPr>
            <p:ph type="subTitle" idx="1"/>
          </p:nvPr>
        </p:nvSpPr>
        <p:spPr>
          <a:xfrm>
            <a:off x="2589213" y="4777379"/>
            <a:ext cx="8915399" cy="1126283"/>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a:endParaRPr/>
          </a:p>
        </p:txBody>
      </p:sp>
      <p:sp>
        <p:nvSpPr>
          <p:cNvPr id="41" name="Google Shape;41;p1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6"/>
          <p:cNvSpPr/>
          <p:nvPr/>
        </p:nvSpPr>
        <p:spPr>
          <a:xfrm>
            <a:off x="0" y="4323810"/>
            <a:ext cx="1744652" cy="778589"/>
          </a:xfrm>
          <a:custGeom>
            <a:avLst/>
            <a:gdLst/>
            <a:ahLst/>
            <a:cxnLst/>
            <a:rect l="l" t="t" r="r" b="b"/>
            <a:pathLst>
              <a:path w="372" h="166" extrusionOk="0">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44" name="Google Shape;44;p16"/>
          <p:cNvSpPr txBox="1">
            <a:spLocks noGrp="1"/>
          </p:cNvSpPr>
          <p:nvPr>
            <p:ph type="sldNum" idx="12"/>
          </p:nvPr>
        </p:nvSpPr>
        <p:spPr>
          <a:xfrm>
            <a:off x="531812" y="4529540"/>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2592925"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7"/>
          <p:cNvSpPr txBox="1">
            <a:spLocks noGrp="1"/>
          </p:cNvSpPr>
          <p:nvPr>
            <p:ph type="body" idx="1"/>
          </p:nvPr>
        </p:nvSpPr>
        <p:spPr>
          <a:xfrm>
            <a:off x="2589212" y="2133600"/>
            <a:ext cx="8915400"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48" name="Google Shape;48;p17"/>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7"/>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7"/>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7"/>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18"/>
          <p:cNvSpPr txBox="1">
            <a:spLocks noGrp="1"/>
          </p:cNvSpPr>
          <p:nvPr>
            <p:ph type="title"/>
          </p:nvPr>
        </p:nvSpPr>
        <p:spPr>
          <a:xfrm>
            <a:off x="2589212" y="2058750"/>
            <a:ext cx="8915399"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8"/>
          <p:cNvSpPr txBox="1">
            <a:spLocks noGrp="1"/>
          </p:cNvSpPr>
          <p:nvPr>
            <p:ph type="body" idx="1"/>
          </p:nvPr>
        </p:nvSpPr>
        <p:spPr>
          <a:xfrm>
            <a:off x="2589212" y="3530129"/>
            <a:ext cx="891539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2000"/>
              <a:buNone/>
              <a:defRPr sz="20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55" name="Google Shape;55;p18"/>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8"/>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9"/>
        <p:cNvGrpSpPr/>
        <p:nvPr/>
      </p:nvGrpSpPr>
      <p:grpSpPr>
        <a:xfrm>
          <a:off x="0" y="0"/>
          <a:ext cx="0" cy="0"/>
          <a:chOff x="0" y="0"/>
          <a:chExt cx="0" cy="0"/>
        </a:xfrm>
      </p:grpSpPr>
      <p:sp>
        <p:nvSpPr>
          <p:cNvPr id="60" name="Google Shape;60;p19"/>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9"/>
          <p:cNvSpPr txBox="1">
            <a:spLocks noGrp="1"/>
          </p:cNvSpPr>
          <p:nvPr>
            <p:ph type="body" idx="1"/>
          </p:nvPr>
        </p:nvSpPr>
        <p:spPr>
          <a:xfrm>
            <a:off x="2589212" y="2133600"/>
            <a:ext cx="4313864"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62" name="Google Shape;62;p19"/>
          <p:cNvSpPr txBox="1">
            <a:spLocks noGrp="1"/>
          </p:cNvSpPr>
          <p:nvPr>
            <p:ph type="body" idx="2"/>
          </p:nvPr>
        </p:nvSpPr>
        <p:spPr>
          <a:xfrm>
            <a:off x="7190747" y="2126222"/>
            <a:ext cx="4313864"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63" name="Google Shape;63;p19"/>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9"/>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9"/>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7"/>
        <p:cNvGrpSpPr/>
        <p:nvPr/>
      </p:nvGrpSpPr>
      <p:grpSpPr>
        <a:xfrm>
          <a:off x="0" y="0"/>
          <a:ext cx="0" cy="0"/>
          <a:chOff x="0" y="0"/>
          <a:chExt cx="0" cy="0"/>
        </a:xfrm>
      </p:grpSpPr>
      <p:sp>
        <p:nvSpPr>
          <p:cNvPr id="68" name="Google Shape;68;p20"/>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0"/>
          <p:cNvSpPr txBox="1">
            <a:spLocks noGrp="1"/>
          </p:cNvSpPr>
          <p:nvPr>
            <p:ph type="body" idx="1"/>
          </p:nvPr>
        </p:nvSpPr>
        <p:spPr>
          <a:xfrm>
            <a:off x="2939373" y="1972703"/>
            <a:ext cx="3992732"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a:endParaRPr/>
          </a:p>
        </p:txBody>
      </p:sp>
      <p:sp>
        <p:nvSpPr>
          <p:cNvPr id="70" name="Google Shape;70;p20"/>
          <p:cNvSpPr txBox="1">
            <a:spLocks noGrp="1"/>
          </p:cNvSpPr>
          <p:nvPr>
            <p:ph type="body" idx="2"/>
          </p:nvPr>
        </p:nvSpPr>
        <p:spPr>
          <a:xfrm>
            <a:off x="2589212" y="2548966"/>
            <a:ext cx="4342893" cy="335406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71" name="Google Shape;71;p20"/>
          <p:cNvSpPr txBox="1">
            <a:spLocks noGrp="1"/>
          </p:cNvSpPr>
          <p:nvPr>
            <p:ph type="body" idx="3"/>
          </p:nvPr>
        </p:nvSpPr>
        <p:spPr>
          <a:xfrm>
            <a:off x="7506629" y="1969475"/>
            <a:ext cx="399900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a:endParaRPr/>
          </a:p>
        </p:txBody>
      </p:sp>
      <p:sp>
        <p:nvSpPr>
          <p:cNvPr id="72" name="Google Shape;72;p20"/>
          <p:cNvSpPr txBox="1">
            <a:spLocks noGrp="1"/>
          </p:cNvSpPr>
          <p:nvPr>
            <p:ph type="body" idx="4"/>
          </p:nvPr>
        </p:nvSpPr>
        <p:spPr>
          <a:xfrm>
            <a:off x="7166957" y="2545738"/>
            <a:ext cx="4338674" cy="335406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73" name="Google Shape;73;p20"/>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0"/>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0"/>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0"/>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7"/>
        <p:cNvGrpSpPr/>
        <p:nvPr/>
      </p:nvGrpSpPr>
      <p:grpSpPr>
        <a:xfrm>
          <a:off x="0" y="0"/>
          <a:ext cx="0" cy="0"/>
          <a:chOff x="0" y="0"/>
          <a:chExt cx="0" cy="0"/>
        </a:xfrm>
      </p:grpSpPr>
      <p:sp>
        <p:nvSpPr>
          <p:cNvPr id="78" name="Google Shape;78;p21"/>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1"/>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1"/>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1"/>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3"/>
        <p:cNvGrpSpPr/>
        <p:nvPr/>
      </p:nvGrpSpPr>
      <p:grpSpPr>
        <a:xfrm>
          <a:off x="0" y="0"/>
          <a:ext cx="0" cy="0"/>
          <a:chOff x="0" y="0"/>
          <a:chExt cx="0" cy="0"/>
        </a:xfrm>
      </p:grpSpPr>
      <p:sp>
        <p:nvSpPr>
          <p:cNvPr id="84" name="Google Shape;84;p22"/>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2"/>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2"/>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2"/>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
        <p:cNvGrpSpPr/>
        <p:nvPr/>
      </p:nvGrpSpPr>
      <p:grpSpPr>
        <a:xfrm>
          <a:off x="0" y="0"/>
          <a:ext cx="0" cy="0"/>
          <a:chOff x="0" y="0"/>
          <a:chExt cx="0" cy="0"/>
        </a:xfrm>
      </p:grpSpPr>
      <p:sp>
        <p:nvSpPr>
          <p:cNvPr id="89" name="Google Shape;89;p23"/>
          <p:cNvSpPr txBox="1">
            <a:spLocks noGrp="1"/>
          </p:cNvSpPr>
          <p:nvPr>
            <p:ph type="title"/>
          </p:nvPr>
        </p:nvSpPr>
        <p:spPr>
          <a:xfrm>
            <a:off x="2589212" y="446088"/>
            <a:ext cx="3505199" cy="97631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2000"/>
              <a:buFont typeface="Century Gothic"/>
              <a:buNone/>
              <a:defRPr sz="20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3"/>
          <p:cNvSpPr txBox="1">
            <a:spLocks noGrp="1"/>
          </p:cNvSpPr>
          <p:nvPr>
            <p:ph type="body" idx="1"/>
          </p:nvPr>
        </p:nvSpPr>
        <p:spPr>
          <a:xfrm>
            <a:off x="6323012" y="446088"/>
            <a:ext cx="5181600" cy="5414963"/>
          </a:xfrm>
          <a:prstGeom prst="rect">
            <a:avLst/>
          </a:prstGeom>
          <a:noFill/>
          <a:ln>
            <a:noFill/>
          </a:ln>
        </p:spPr>
        <p:txBody>
          <a:bodyPr spcFirstLastPara="1" wrap="square" lIns="91425" tIns="45700" rIns="91425" bIns="45700" anchor="ctr"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91" name="Google Shape;91;p23"/>
          <p:cNvSpPr txBox="1">
            <a:spLocks noGrp="1"/>
          </p:cNvSpPr>
          <p:nvPr>
            <p:ph type="body" idx="2"/>
          </p:nvPr>
        </p:nvSpPr>
        <p:spPr>
          <a:xfrm>
            <a:off x="2589212" y="1598613"/>
            <a:ext cx="3505199" cy="4262436"/>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00"/>
              <a:buNone/>
              <a:defRPr sz="14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a:endParaRPr/>
          </a:p>
        </p:txBody>
      </p:sp>
      <p:sp>
        <p:nvSpPr>
          <p:cNvPr id="92" name="Google Shape;92;p23"/>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3"/>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3"/>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3"/>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6"/>
        <p:cNvGrpSpPr/>
        <p:nvPr/>
      </p:nvGrpSpPr>
      <p:grpSpPr>
        <a:xfrm>
          <a:off x="0" y="0"/>
          <a:ext cx="0" cy="0"/>
          <a:chOff x="0" y="0"/>
          <a:chExt cx="0" cy="0"/>
        </a:xfrm>
      </p:grpSpPr>
      <p:sp>
        <p:nvSpPr>
          <p:cNvPr id="97" name="Google Shape;97;p24"/>
          <p:cNvSpPr txBox="1">
            <a:spLocks noGrp="1"/>
          </p:cNvSpPr>
          <p:nvPr>
            <p:ph type="title"/>
          </p:nvPr>
        </p:nvSpPr>
        <p:spPr>
          <a:xfrm>
            <a:off x="2589213" y="4800600"/>
            <a:ext cx="8915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4"/>
          <p:cNvSpPr>
            <a:spLocks noGrp="1"/>
          </p:cNvSpPr>
          <p:nvPr>
            <p:ph type="pic" idx="2"/>
          </p:nvPr>
        </p:nvSpPr>
        <p:spPr>
          <a:xfrm>
            <a:off x="2589212" y="634965"/>
            <a:ext cx="8915400" cy="3854970"/>
          </a:xfrm>
          <a:prstGeom prst="rect">
            <a:avLst/>
          </a:prstGeom>
          <a:noFill/>
          <a:ln>
            <a:noFill/>
          </a:ln>
        </p:spPr>
      </p:sp>
      <p:sp>
        <p:nvSpPr>
          <p:cNvPr id="99" name="Google Shape;99;p24"/>
          <p:cNvSpPr txBox="1">
            <a:spLocks noGrp="1"/>
          </p:cNvSpPr>
          <p:nvPr>
            <p:ph type="body" idx="1"/>
          </p:nvPr>
        </p:nvSpPr>
        <p:spPr>
          <a:xfrm>
            <a:off x="2589213" y="5367338"/>
            <a:ext cx="8915400"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200"/>
              <a:buNone/>
              <a:defRPr sz="12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a:endParaRPr/>
          </a:p>
        </p:txBody>
      </p:sp>
      <p:sp>
        <p:nvSpPr>
          <p:cNvPr id="100" name="Google Shape;100;p24"/>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24"/>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4"/>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4"/>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04"/>
        <p:cNvGrpSpPr/>
        <p:nvPr/>
      </p:nvGrpSpPr>
      <p:grpSpPr>
        <a:xfrm>
          <a:off x="0" y="0"/>
          <a:ext cx="0" cy="0"/>
          <a:chOff x="0" y="0"/>
          <a:chExt cx="0" cy="0"/>
        </a:xfrm>
      </p:grpSpPr>
      <p:sp>
        <p:nvSpPr>
          <p:cNvPr id="105" name="Google Shape;105;p25"/>
          <p:cNvSpPr txBox="1">
            <a:spLocks noGrp="1"/>
          </p:cNvSpPr>
          <p:nvPr>
            <p:ph type="title"/>
          </p:nvPr>
        </p:nvSpPr>
        <p:spPr>
          <a:xfrm>
            <a:off x="2589212" y="609600"/>
            <a:ext cx="8915399" cy="311704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5"/>
          <p:cNvSpPr txBox="1">
            <a:spLocks noGrp="1"/>
          </p:cNvSpPr>
          <p:nvPr>
            <p:ph type="body" idx="1"/>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107" name="Google Shape;107;p2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5"/>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5"/>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11"/>
        <p:cNvGrpSpPr/>
        <p:nvPr/>
      </p:nvGrpSpPr>
      <p:grpSpPr>
        <a:xfrm>
          <a:off x="0" y="0"/>
          <a:ext cx="0" cy="0"/>
          <a:chOff x="0" y="0"/>
          <a:chExt cx="0" cy="0"/>
        </a:xfrm>
      </p:grpSpPr>
      <p:sp>
        <p:nvSpPr>
          <p:cNvPr id="112" name="Google Shape;112;p26"/>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6"/>
          <p:cNvSpPr txBox="1">
            <a:spLocks noGrp="1"/>
          </p:cNvSpPr>
          <p:nvPr>
            <p:ph type="body" idx="1"/>
          </p:nvPr>
        </p:nvSpPr>
        <p:spPr>
          <a:xfrm>
            <a:off x="3275012" y="3505200"/>
            <a:ext cx="753655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600"/>
              <a:buFont typeface="Century Gothic"/>
              <a:buNone/>
              <a:defRPr sz="1600">
                <a:solidFill>
                  <a:srgbClr val="7F7F7F"/>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14" name="Google Shape;114;p26"/>
          <p:cNvSpPr txBox="1">
            <a:spLocks noGrp="1"/>
          </p:cNvSpPr>
          <p:nvPr>
            <p:ph type="body" idx="2"/>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115" name="Google Shape;115;p2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6"/>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6"/>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9" name="Google Shape;119;p26"/>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chemeClr val="accent1"/>
                </a:solidFill>
                <a:latin typeface="Arial"/>
                <a:ea typeface="Arial"/>
                <a:cs typeface="Arial"/>
                <a:sym typeface="Arial"/>
              </a:rPr>
              <a:t>“</a:t>
            </a:r>
            <a:endParaRPr/>
          </a:p>
        </p:txBody>
      </p:sp>
      <p:sp>
        <p:nvSpPr>
          <p:cNvPr id="120" name="Google Shape;120;p26"/>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21"/>
        <p:cNvGrpSpPr/>
        <p:nvPr/>
      </p:nvGrpSpPr>
      <p:grpSpPr>
        <a:xfrm>
          <a:off x="0" y="0"/>
          <a:ext cx="0" cy="0"/>
          <a:chOff x="0" y="0"/>
          <a:chExt cx="0" cy="0"/>
        </a:xfrm>
      </p:grpSpPr>
      <p:sp>
        <p:nvSpPr>
          <p:cNvPr id="122" name="Google Shape;122;p27"/>
          <p:cNvSpPr txBox="1">
            <a:spLocks noGrp="1"/>
          </p:cNvSpPr>
          <p:nvPr>
            <p:ph type="title"/>
          </p:nvPr>
        </p:nvSpPr>
        <p:spPr>
          <a:xfrm>
            <a:off x="2589213" y="2438400"/>
            <a:ext cx="8915400" cy="272484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4800"/>
              <a:buFont typeface="Century Gothic"/>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7"/>
          <p:cNvSpPr txBox="1">
            <a:spLocks noGrp="1"/>
          </p:cNvSpPr>
          <p:nvPr>
            <p:ph type="body" idx="1"/>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24" name="Google Shape;124;p27"/>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7"/>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7"/>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7"/>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28"/>
        <p:cNvGrpSpPr/>
        <p:nvPr/>
      </p:nvGrpSpPr>
      <p:grpSpPr>
        <a:xfrm>
          <a:off x="0" y="0"/>
          <a:ext cx="0" cy="0"/>
          <a:chOff x="0" y="0"/>
          <a:chExt cx="0" cy="0"/>
        </a:xfrm>
      </p:grpSpPr>
      <p:sp>
        <p:nvSpPr>
          <p:cNvPr id="129" name="Google Shape;129;p28"/>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28"/>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a:buNone/>
              <a:defRPr sz="2400">
                <a:solidFill>
                  <a:schemeClr val="accent1"/>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31" name="Google Shape;131;p28"/>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32" name="Google Shape;132;p28"/>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8"/>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28"/>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8"/>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6" name="Google Shape;136;p28"/>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chemeClr val="accent1"/>
                </a:solidFill>
                <a:latin typeface="Arial"/>
                <a:ea typeface="Arial"/>
                <a:cs typeface="Arial"/>
                <a:sym typeface="Arial"/>
              </a:rPr>
              <a:t>“</a:t>
            </a:r>
            <a:endParaRPr/>
          </a:p>
        </p:txBody>
      </p:sp>
      <p:sp>
        <p:nvSpPr>
          <p:cNvPr id="137" name="Google Shape;137;p28"/>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38"/>
        <p:cNvGrpSpPr/>
        <p:nvPr/>
      </p:nvGrpSpPr>
      <p:grpSpPr>
        <a:xfrm>
          <a:off x="0" y="0"/>
          <a:ext cx="0" cy="0"/>
          <a:chOff x="0" y="0"/>
          <a:chExt cx="0" cy="0"/>
        </a:xfrm>
      </p:grpSpPr>
      <p:sp>
        <p:nvSpPr>
          <p:cNvPr id="139" name="Google Shape;139;p29"/>
          <p:cNvSpPr txBox="1">
            <a:spLocks noGrp="1"/>
          </p:cNvSpPr>
          <p:nvPr>
            <p:ph type="title"/>
          </p:nvPr>
        </p:nvSpPr>
        <p:spPr>
          <a:xfrm>
            <a:off x="2589212" y="627407"/>
            <a:ext cx="8915399" cy="288002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4800"/>
              <a:buFont typeface="Century Gothic"/>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29"/>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a:buNone/>
              <a:defRPr sz="2400">
                <a:solidFill>
                  <a:schemeClr val="accent1"/>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41" name="Google Shape;141;p29"/>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42" name="Google Shape;142;p29"/>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29"/>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29"/>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9"/>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6"/>
        <p:cNvGrpSpPr/>
        <p:nvPr/>
      </p:nvGrpSpPr>
      <p:grpSpPr>
        <a:xfrm>
          <a:off x="0" y="0"/>
          <a:ext cx="0" cy="0"/>
          <a:chOff x="0" y="0"/>
          <a:chExt cx="0" cy="0"/>
        </a:xfrm>
      </p:grpSpPr>
      <p:sp>
        <p:nvSpPr>
          <p:cNvPr id="147" name="Google Shape;147;p30"/>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30"/>
          <p:cNvSpPr txBox="1">
            <a:spLocks noGrp="1"/>
          </p:cNvSpPr>
          <p:nvPr>
            <p:ph type="body" idx="1"/>
          </p:nvPr>
        </p:nvSpPr>
        <p:spPr>
          <a:xfrm rot="5400000">
            <a:off x="5103812" y="-381000"/>
            <a:ext cx="3886200" cy="89154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49" name="Google Shape;149;p30"/>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30"/>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30"/>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0"/>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3"/>
        <p:cNvGrpSpPr/>
        <p:nvPr/>
      </p:nvGrpSpPr>
      <p:grpSpPr>
        <a:xfrm>
          <a:off x="0" y="0"/>
          <a:ext cx="0" cy="0"/>
          <a:chOff x="0" y="0"/>
          <a:chExt cx="0" cy="0"/>
        </a:xfrm>
      </p:grpSpPr>
      <p:sp>
        <p:nvSpPr>
          <p:cNvPr id="154" name="Google Shape;154;p31"/>
          <p:cNvSpPr txBox="1">
            <a:spLocks noGrp="1"/>
          </p:cNvSpPr>
          <p:nvPr>
            <p:ph type="title"/>
          </p:nvPr>
        </p:nvSpPr>
        <p:spPr>
          <a:xfrm rot="5400000">
            <a:off x="7756704" y="2165513"/>
            <a:ext cx="5283817" cy="2207601"/>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31"/>
          <p:cNvSpPr txBox="1">
            <a:spLocks noGrp="1"/>
          </p:cNvSpPr>
          <p:nvPr>
            <p:ph type="body" idx="1"/>
          </p:nvPr>
        </p:nvSpPr>
        <p:spPr>
          <a:xfrm rot="5400000">
            <a:off x="3185803" y="30814"/>
            <a:ext cx="5283817" cy="64770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56" name="Google Shape;156;p31"/>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31"/>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31"/>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1"/>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DE6C3"/>
            </a:gs>
          </a:gsLst>
          <a:path path="circle">
            <a:fillToRect r="100000" b="100000"/>
          </a:path>
          <a:tileRect l="-100000" t="-100000"/>
        </a:gradFill>
        <a:effectLst/>
      </p:bgPr>
    </p:bg>
    <p:spTree>
      <p:nvGrpSpPr>
        <p:cNvPr id="1" name="Shape 5"/>
        <p:cNvGrpSpPr/>
        <p:nvPr/>
      </p:nvGrpSpPr>
      <p:grpSpPr>
        <a:xfrm>
          <a:off x="0" y="0"/>
          <a:ext cx="0" cy="0"/>
          <a:chOff x="0" y="0"/>
          <a:chExt cx="0" cy="0"/>
        </a:xfrm>
      </p:grpSpPr>
      <p:grpSp>
        <p:nvGrpSpPr>
          <p:cNvPr id="6" name="Google Shape;6;p15"/>
          <p:cNvGrpSpPr/>
          <p:nvPr/>
        </p:nvGrpSpPr>
        <p:grpSpPr>
          <a:xfrm>
            <a:off x="1" y="228600"/>
            <a:ext cx="2851516" cy="6638628"/>
            <a:chOff x="2487613" y="285750"/>
            <a:chExt cx="2428875" cy="5654676"/>
          </a:xfrm>
        </p:grpSpPr>
        <p:sp>
          <p:nvSpPr>
            <p:cNvPr id="7" name="Google Shape;7;p15"/>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8" name="Google Shape;8;p15"/>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9" name="Google Shape;9;p15"/>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 name="Google Shape;10;p15"/>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1" name="Google Shape;11;p15"/>
            <p:cNvSpPr/>
            <p:nvPr/>
          </p:nvSpPr>
          <p:spPr>
            <a:xfrm>
              <a:off x="2573338" y="2817813"/>
              <a:ext cx="700088" cy="2835275"/>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2" name="Google Shape;12;p15"/>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3" name="Google Shape;13;p15"/>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 name="Google Shape;14;p15"/>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 name="Google Shape;15;p15"/>
            <p:cNvSpPr/>
            <p:nvPr/>
          </p:nvSpPr>
          <p:spPr>
            <a:xfrm>
              <a:off x="3148013" y="1282700"/>
              <a:ext cx="1768475" cy="3448050"/>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 name="Google Shape;16;p15"/>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 name="Google Shape;17;p15"/>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8" name="Google Shape;18;p15"/>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nvGrpSpPr>
          <p:cNvPr id="19" name="Google Shape;19;p15"/>
          <p:cNvGrpSpPr/>
          <p:nvPr/>
        </p:nvGrpSpPr>
        <p:grpSpPr>
          <a:xfrm>
            <a:off x="27221" y="-786"/>
            <a:ext cx="2356674" cy="6854039"/>
            <a:chOff x="6627813" y="194833"/>
            <a:chExt cx="1952625" cy="5678918"/>
          </a:xfrm>
        </p:grpSpPr>
        <p:sp>
          <p:nvSpPr>
            <p:cNvPr id="20" name="Google Shape;20;p15"/>
            <p:cNvSpPr/>
            <p:nvPr/>
          </p:nvSpPr>
          <p:spPr>
            <a:xfrm>
              <a:off x="6627813" y="194833"/>
              <a:ext cx="409575" cy="3646488"/>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1" name="Google Shape;21;p15"/>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2" name="Google Shape;22;p15"/>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3" name="Google Shape;23;p15"/>
            <p:cNvSpPr/>
            <p:nvPr/>
          </p:nvSpPr>
          <p:spPr>
            <a:xfrm>
              <a:off x="7037388" y="3811588"/>
              <a:ext cx="457200" cy="1852613"/>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4" name="Google Shape;24;p15"/>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 name="Google Shape;25;p15"/>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6" name="Google Shape;26;p15"/>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7" name="Google Shape;27;p15"/>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8" name="Google Shape;28;p15"/>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9" name="Google Shape;29;p15"/>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0" name="Google Shape;30;p15"/>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31" name="Google Shape;31;p15"/>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32" name="Google Shape;32;p15"/>
          <p:cNvSpPr/>
          <p:nvPr/>
        </p:nvSpPr>
        <p:spPr>
          <a:xfrm>
            <a:off x="0" y="0"/>
            <a:ext cx="182880" cy="6858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entury Gothic"/>
              <a:ea typeface="Century Gothic"/>
              <a:cs typeface="Century Gothic"/>
              <a:sym typeface="Century Gothic"/>
            </a:endParaRPr>
          </a:p>
        </p:txBody>
      </p:sp>
      <p:sp>
        <p:nvSpPr>
          <p:cNvPr id="33" name="Google Shape;33;p15"/>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rgbClr val="262626"/>
              </a:buClr>
              <a:buSzPts val="3600"/>
              <a:buFont typeface="Century Gothic"/>
              <a:buNone/>
              <a:defRPr sz="3600" b="0" i="0" u="none" strike="noStrike" cap="none">
                <a:solidFill>
                  <a:srgbClr val="262626"/>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34" name="Google Shape;34;p15"/>
          <p:cNvSpPr txBox="1">
            <a:spLocks noGrp="1"/>
          </p:cNvSpPr>
          <p:nvPr>
            <p:ph type="body" idx="1"/>
          </p:nvPr>
        </p:nvSpPr>
        <p:spPr>
          <a:xfrm>
            <a:off x="2589212" y="2133600"/>
            <a:ext cx="8915400" cy="3886200"/>
          </a:xfrm>
          <a:prstGeom prst="rect">
            <a:avLst/>
          </a:prstGeom>
          <a:noFill/>
          <a:ln>
            <a:noFill/>
          </a:ln>
        </p:spPr>
        <p:txBody>
          <a:bodyPr spcFirstLastPara="1" wrap="square" lIns="91425" tIns="45700" rIns="91425" bIns="45700" anchor="t" anchorCtr="0">
            <a:normAutofit/>
          </a:bodyPr>
          <a:lstStyle>
            <a:lvl1pPr marL="457200" marR="0" lvl="0" indent="-342900" algn="l" rtl="0">
              <a:spcBef>
                <a:spcPts val="1000"/>
              </a:spcBef>
              <a:spcAft>
                <a:spcPts val="0"/>
              </a:spcAft>
              <a:buClr>
                <a:schemeClr val="accent1"/>
              </a:buClr>
              <a:buSzPts val="180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30200" algn="l" rtl="0">
              <a:spcBef>
                <a:spcPts val="1000"/>
              </a:spcBef>
              <a:spcAft>
                <a:spcPts val="0"/>
              </a:spcAft>
              <a:buClr>
                <a:schemeClr val="accent1"/>
              </a:buClr>
              <a:buSzPts val="160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17500" algn="l" rtl="0">
              <a:spcBef>
                <a:spcPts val="1000"/>
              </a:spcBef>
              <a:spcAft>
                <a:spcPts val="0"/>
              </a:spcAft>
              <a:buClr>
                <a:schemeClr val="accent1"/>
              </a:buClr>
              <a:buSzPts val="140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35" name="Google Shape;35;p1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36" name="Google Shape;36;p1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37" name="Google Shape;37;p15"/>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000" b="0" u="none">
                <a:solidFill>
                  <a:srgbClr val="FEFFFF"/>
                </a:solidFill>
                <a:latin typeface="Century Gothic"/>
                <a:ea typeface="Century Gothic"/>
                <a:cs typeface="Century Gothic"/>
                <a:sym typeface="Century Gothic"/>
              </a:defRPr>
            </a:lvl1pPr>
            <a:lvl2pPr marL="0" marR="0" lvl="1" indent="0" algn="r" rtl="0">
              <a:spcBef>
                <a:spcPts val="0"/>
              </a:spcBef>
              <a:buNone/>
              <a:defRPr sz="2000" b="0" u="none">
                <a:solidFill>
                  <a:srgbClr val="FEFFFF"/>
                </a:solidFill>
                <a:latin typeface="Century Gothic"/>
                <a:ea typeface="Century Gothic"/>
                <a:cs typeface="Century Gothic"/>
                <a:sym typeface="Century Gothic"/>
              </a:defRPr>
            </a:lvl2pPr>
            <a:lvl3pPr marL="0" marR="0" lvl="2" indent="0" algn="r" rtl="0">
              <a:spcBef>
                <a:spcPts val="0"/>
              </a:spcBef>
              <a:buNone/>
              <a:defRPr sz="2000" b="0" u="none">
                <a:solidFill>
                  <a:srgbClr val="FEFFFF"/>
                </a:solidFill>
                <a:latin typeface="Century Gothic"/>
                <a:ea typeface="Century Gothic"/>
                <a:cs typeface="Century Gothic"/>
                <a:sym typeface="Century Gothic"/>
              </a:defRPr>
            </a:lvl3pPr>
            <a:lvl4pPr marL="0" marR="0" lvl="3" indent="0" algn="r" rtl="0">
              <a:spcBef>
                <a:spcPts val="0"/>
              </a:spcBef>
              <a:buNone/>
              <a:defRPr sz="2000" b="0" u="none">
                <a:solidFill>
                  <a:srgbClr val="FEFFFF"/>
                </a:solidFill>
                <a:latin typeface="Century Gothic"/>
                <a:ea typeface="Century Gothic"/>
                <a:cs typeface="Century Gothic"/>
                <a:sym typeface="Century Gothic"/>
              </a:defRPr>
            </a:lvl4pPr>
            <a:lvl5pPr marL="0" marR="0" lvl="4" indent="0" algn="r" rtl="0">
              <a:spcBef>
                <a:spcPts val="0"/>
              </a:spcBef>
              <a:buNone/>
              <a:defRPr sz="2000" b="0" u="none">
                <a:solidFill>
                  <a:srgbClr val="FEFFFF"/>
                </a:solidFill>
                <a:latin typeface="Century Gothic"/>
                <a:ea typeface="Century Gothic"/>
                <a:cs typeface="Century Gothic"/>
                <a:sym typeface="Century Gothic"/>
              </a:defRPr>
            </a:lvl5pPr>
            <a:lvl6pPr marL="0" marR="0" lvl="5" indent="0" algn="r" rtl="0">
              <a:spcBef>
                <a:spcPts val="0"/>
              </a:spcBef>
              <a:buNone/>
              <a:defRPr sz="2000" b="0" u="none">
                <a:solidFill>
                  <a:srgbClr val="FEFFFF"/>
                </a:solidFill>
                <a:latin typeface="Century Gothic"/>
                <a:ea typeface="Century Gothic"/>
                <a:cs typeface="Century Gothic"/>
                <a:sym typeface="Century Gothic"/>
              </a:defRPr>
            </a:lvl6pPr>
            <a:lvl7pPr marL="0" marR="0" lvl="6" indent="0" algn="r" rtl="0">
              <a:spcBef>
                <a:spcPts val="0"/>
              </a:spcBef>
              <a:buNone/>
              <a:defRPr sz="2000" b="0" u="none">
                <a:solidFill>
                  <a:srgbClr val="FEFFFF"/>
                </a:solidFill>
                <a:latin typeface="Century Gothic"/>
                <a:ea typeface="Century Gothic"/>
                <a:cs typeface="Century Gothic"/>
                <a:sym typeface="Century Gothic"/>
              </a:defRPr>
            </a:lvl7pPr>
            <a:lvl8pPr marL="0" marR="0" lvl="7" indent="0" algn="r" rtl="0">
              <a:spcBef>
                <a:spcPts val="0"/>
              </a:spcBef>
              <a:buNone/>
              <a:defRPr sz="2000" b="0" u="none">
                <a:solidFill>
                  <a:srgbClr val="FEFFFF"/>
                </a:solidFill>
                <a:latin typeface="Century Gothic"/>
                <a:ea typeface="Century Gothic"/>
                <a:cs typeface="Century Gothic"/>
                <a:sym typeface="Century Gothic"/>
              </a:defRPr>
            </a:lvl8pPr>
            <a:lvl9pPr marL="0" marR="0" lvl="8" indent="0" algn="r" rtl="0">
              <a:spcBef>
                <a:spcPts val="0"/>
              </a:spcBef>
              <a:buNone/>
              <a:defRPr sz="2000" b="0" u="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3390/en17112692"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doi.org/10.1049/iet-its.2018.5193" TargetMode="External"/><Relationship Id="rId5" Type="http://schemas.openxmlformats.org/officeDocument/2006/relationships/hyperlink" Target="https://doi.org/10.2139/ssrn.4916874" TargetMode="External"/><Relationship Id="rId4" Type="http://schemas.openxmlformats.org/officeDocument/2006/relationships/hyperlink" Target="https://doi.org/10.3390/app151582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
          <p:cNvSpPr txBox="1">
            <a:spLocks noGrp="1"/>
          </p:cNvSpPr>
          <p:nvPr>
            <p:ph type="subTitle" idx="1"/>
          </p:nvPr>
        </p:nvSpPr>
        <p:spPr>
          <a:xfrm>
            <a:off x="2589213" y="4777379"/>
            <a:ext cx="8915399" cy="1126283"/>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SzPts val="1800"/>
              <a:buNone/>
            </a:pPr>
            <a:r>
              <a:rPr lang="en-US" b="1">
                <a:solidFill>
                  <a:schemeClr val="dk1"/>
                </a:solidFill>
                <a:latin typeface="Times New Roman"/>
                <a:ea typeface="Times New Roman"/>
                <a:cs typeface="Times New Roman"/>
                <a:sym typeface="Times New Roman"/>
              </a:rPr>
              <a:t>Ernest Agyemang - 22424512</a:t>
            </a:r>
            <a:endParaRPr/>
          </a:p>
          <a:p>
            <a:pPr marL="0" lvl="0" indent="0" algn="l" rtl="0">
              <a:spcBef>
                <a:spcPts val="1000"/>
              </a:spcBef>
              <a:spcAft>
                <a:spcPts val="0"/>
              </a:spcAft>
              <a:buSzPts val="1800"/>
              <a:buNone/>
            </a:pPr>
            <a:r>
              <a:rPr lang="en-US" b="1">
                <a:solidFill>
                  <a:schemeClr val="dk1"/>
                </a:solidFill>
                <a:latin typeface="Times New Roman"/>
                <a:ea typeface="Times New Roman"/>
                <a:cs typeface="Times New Roman"/>
                <a:sym typeface="Times New Roman"/>
              </a:rPr>
              <a:t>Victoria Dowana - 22425077</a:t>
            </a:r>
            <a:endParaRPr/>
          </a:p>
          <a:p>
            <a:pPr marL="0" lvl="0" indent="0" algn="l" rtl="0">
              <a:spcBef>
                <a:spcPts val="1000"/>
              </a:spcBef>
              <a:spcAft>
                <a:spcPts val="0"/>
              </a:spcAft>
              <a:buSzPts val="1800"/>
              <a:buNone/>
            </a:pPr>
            <a:r>
              <a:rPr lang="en-US" b="1">
                <a:solidFill>
                  <a:schemeClr val="dk1"/>
                </a:solidFill>
                <a:latin typeface="Times New Roman"/>
                <a:ea typeface="Times New Roman"/>
                <a:cs typeface="Times New Roman"/>
                <a:sym typeface="Times New Roman"/>
              </a:rPr>
              <a:t>Joseph Harry Mills Jnr - 22425759</a:t>
            </a:r>
            <a:endParaRPr/>
          </a:p>
        </p:txBody>
      </p:sp>
      <p:grpSp>
        <p:nvGrpSpPr>
          <p:cNvPr id="165" name="Google Shape;165;p1"/>
          <p:cNvGrpSpPr/>
          <p:nvPr/>
        </p:nvGrpSpPr>
        <p:grpSpPr>
          <a:xfrm>
            <a:off x="5297179" y="525798"/>
            <a:ext cx="798821" cy="952984"/>
            <a:chOff x="0" y="0"/>
            <a:chExt cx="1394333" cy="1744923"/>
          </a:xfrm>
        </p:grpSpPr>
        <p:sp>
          <p:nvSpPr>
            <p:cNvPr id="166" name="Google Shape;166;p1"/>
            <p:cNvSpPr/>
            <p:nvPr/>
          </p:nvSpPr>
          <p:spPr>
            <a:xfrm>
              <a:off x="696468" y="284447"/>
              <a:ext cx="71956" cy="318620"/>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p:txBody>
        </p:sp>
        <p:sp>
          <p:nvSpPr>
            <p:cNvPr id="167" name="Google Shape;167;p1"/>
            <p:cNvSpPr/>
            <p:nvPr/>
          </p:nvSpPr>
          <p:spPr>
            <a:xfrm>
              <a:off x="696468" y="569815"/>
              <a:ext cx="71956" cy="318620"/>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p:txBody>
        </p:sp>
        <p:sp>
          <p:nvSpPr>
            <p:cNvPr id="168" name="Google Shape;168;p1"/>
            <p:cNvSpPr/>
            <p:nvPr/>
          </p:nvSpPr>
          <p:spPr>
            <a:xfrm>
              <a:off x="696468" y="856327"/>
              <a:ext cx="71956" cy="318620"/>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p:txBody>
        </p:sp>
        <p:sp>
          <p:nvSpPr>
            <p:cNvPr id="169" name="Google Shape;169;p1"/>
            <p:cNvSpPr/>
            <p:nvPr/>
          </p:nvSpPr>
          <p:spPr>
            <a:xfrm>
              <a:off x="696468" y="1141315"/>
              <a:ext cx="71956" cy="318620"/>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p:txBody>
        </p:sp>
        <p:sp>
          <p:nvSpPr>
            <p:cNvPr id="170" name="Google Shape;170;p1"/>
            <p:cNvSpPr/>
            <p:nvPr/>
          </p:nvSpPr>
          <p:spPr>
            <a:xfrm>
              <a:off x="696468" y="1426303"/>
              <a:ext cx="71956" cy="318620"/>
            </a:xfrm>
            <a:prstGeom prst="rect">
              <a:avLst/>
            </a:prstGeom>
            <a:noFill/>
            <a:ln>
              <a:noFill/>
            </a:ln>
          </p:spPr>
          <p:txBody>
            <a:bodyPr spcFirstLastPara="1" wrap="square" lIns="0" tIns="0" rIns="0" bIns="0" anchor="t" anchorCtr="0">
              <a:noAutofit/>
            </a:bodyPr>
            <a:lstStyle/>
            <a:p>
              <a:pPr marL="0" marR="0" lvl="0" indent="0" algn="l" rtl="0">
                <a:lnSpc>
                  <a:spcPct val="107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p:txBody>
        </p:sp>
        <p:pic>
          <p:nvPicPr>
            <p:cNvPr id="171" name="Google Shape;171;p1"/>
            <p:cNvPicPr preferRelativeResize="0"/>
            <p:nvPr/>
          </p:nvPicPr>
          <p:blipFill rotWithShape="1">
            <a:blip r:embed="rId3">
              <a:alphaModFix/>
            </a:blip>
            <a:srcRect/>
            <a:stretch/>
          </p:blipFill>
          <p:spPr>
            <a:xfrm>
              <a:off x="0" y="0"/>
              <a:ext cx="1394333" cy="1671955"/>
            </a:xfrm>
            <a:prstGeom prst="rect">
              <a:avLst/>
            </a:prstGeom>
            <a:noFill/>
            <a:ln>
              <a:noFill/>
            </a:ln>
          </p:spPr>
        </p:pic>
      </p:grpSp>
      <p:sp>
        <p:nvSpPr>
          <p:cNvPr id="172" name="Google Shape;172;p1"/>
          <p:cNvSpPr txBox="1"/>
          <p:nvPr/>
        </p:nvSpPr>
        <p:spPr>
          <a:xfrm>
            <a:off x="2430422" y="2065431"/>
            <a:ext cx="9232979" cy="24929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002060"/>
                </a:solidFill>
                <a:latin typeface="Times New Roman"/>
                <a:ea typeface="Times New Roman"/>
                <a:cs typeface="Times New Roman"/>
                <a:sym typeface="Times New Roman"/>
              </a:rPr>
              <a:t>UNIVERSITY OF GHANA</a:t>
            </a:r>
            <a:br>
              <a:rPr lang="en-US" sz="1800" b="1" dirty="0">
                <a:solidFill>
                  <a:srgbClr val="002060"/>
                </a:solidFill>
                <a:latin typeface="Times New Roman"/>
                <a:ea typeface="Times New Roman"/>
                <a:cs typeface="Times New Roman"/>
                <a:sym typeface="Times New Roman"/>
              </a:rPr>
            </a:br>
            <a:r>
              <a:rPr lang="en-US" sz="1800" b="1" dirty="0">
                <a:solidFill>
                  <a:srgbClr val="002060"/>
                </a:solidFill>
                <a:latin typeface="Times New Roman"/>
                <a:ea typeface="Times New Roman"/>
                <a:cs typeface="Times New Roman"/>
                <a:sym typeface="Times New Roman"/>
              </a:rPr>
              <a:t>COLLEGE OF BASIC AND APPLIED SCIENCES  </a:t>
            </a:r>
            <a:br>
              <a:rPr lang="en-US" sz="1800" b="1" dirty="0">
                <a:solidFill>
                  <a:srgbClr val="002060"/>
                </a:solidFill>
                <a:latin typeface="Times New Roman"/>
                <a:ea typeface="Times New Roman"/>
                <a:cs typeface="Times New Roman"/>
                <a:sym typeface="Times New Roman"/>
              </a:rPr>
            </a:br>
            <a:r>
              <a:rPr lang="en-US" sz="1800" b="1" dirty="0">
                <a:solidFill>
                  <a:srgbClr val="002060"/>
                </a:solidFill>
                <a:latin typeface="Times New Roman"/>
                <a:ea typeface="Times New Roman"/>
                <a:cs typeface="Times New Roman"/>
                <a:sym typeface="Times New Roman"/>
              </a:rPr>
              <a:t>CSCD 612 INTELLIGENT SYSTEMS  2025/2026</a:t>
            </a:r>
            <a:endParaRPr sz="1800" b="1" dirty="0">
              <a:solidFill>
                <a:srgbClr val="002060"/>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1" dirty="0">
                <a:solidFill>
                  <a:srgbClr val="002060"/>
                </a:solidFill>
                <a:latin typeface="Times New Roman"/>
                <a:ea typeface="Times New Roman"/>
                <a:cs typeface="Times New Roman"/>
                <a:sym typeface="Times New Roman"/>
              </a:rPr>
              <a:t>END OF SEMESTER PROJECT</a:t>
            </a:r>
            <a:br>
              <a:rPr lang="en-US" sz="2400" b="1" dirty="0">
                <a:solidFill>
                  <a:srgbClr val="002060"/>
                </a:solidFill>
                <a:latin typeface="Times New Roman"/>
                <a:ea typeface="Times New Roman"/>
                <a:cs typeface="Times New Roman"/>
                <a:sym typeface="Times New Roman"/>
              </a:rPr>
            </a:br>
            <a:br>
              <a:rPr lang="en-US" sz="2400" b="1" dirty="0">
                <a:solidFill>
                  <a:srgbClr val="002060"/>
                </a:solidFill>
                <a:latin typeface="Times New Roman"/>
                <a:ea typeface="Times New Roman"/>
                <a:cs typeface="Times New Roman"/>
                <a:sym typeface="Times New Roman"/>
              </a:rPr>
            </a:br>
            <a:r>
              <a:rPr lang="en-US" sz="2400" b="1" dirty="0">
                <a:solidFill>
                  <a:srgbClr val="002060"/>
                </a:solidFill>
                <a:latin typeface="Times New Roman"/>
                <a:ea typeface="Times New Roman"/>
                <a:cs typeface="Times New Roman"/>
                <a:sym typeface="Times New Roman"/>
              </a:rPr>
              <a:t>CONFLICT-FREE AIRPORT TAXI</a:t>
            </a:r>
            <a:r>
              <a:rPr lang="en-US" sz="2400" dirty="0">
                <a:solidFill>
                  <a:srgbClr val="002060"/>
                </a:solidFill>
                <a:latin typeface="Times New Roman"/>
                <a:ea typeface="Times New Roman"/>
                <a:cs typeface="Times New Roman"/>
                <a:sym typeface="Times New Roman"/>
              </a:rPr>
              <a:t> </a:t>
            </a:r>
            <a:r>
              <a:rPr lang="en-US" sz="2400" b="1" dirty="0">
                <a:solidFill>
                  <a:srgbClr val="002060"/>
                </a:solidFill>
                <a:latin typeface="Times New Roman"/>
                <a:ea typeface="Times New Roman"/>
                <a:cs typeface="Times New Roman"/>
                <a:sym typeface="Times New Roman"/>
              </a:rPr>
              <a:t>TRAJECTORY PLANNING</a:t>
            </a:r>
            <a:endParaRPr dirty="0"/>
          </a:p>
          <a:p>
            <a:pPr marL="0" marR="0" lvl="0" indent="0" algn="l" rtl="0">
              <a:spcBef>
                <a:spcPts val="0"/>
              </a:spcBef>
              <a:spcAft>
                <a:spcPts val="0"/>
              </a:spcAft>
              <a:buNone/>
            </a:pPr>
            <a:r>
              <a:rPr lang="en-US" sz="1800" i="1" dirty="0">
                <a:solidFill>
                  <a:schemeClr val="dk1"/>
                </a:solidFill>
                <a:latin typeface="Times New Roman"/>
                <a:ea typeface="Times New Roman"/>
                <a:cs typeface="Times New Roman"/>
                <a:sym typeface="Times New Roman"/>
              </a:rPr>
              <a:t>Reproducing SPPTW-MTTC: Shortest Path with Time Windows</a:t>
            </a:r>
            <a:r>
              <a:rPr lang="en-US" sz="1800" dirty="0">
                <a:solidFill>
                  <a:schemeClr val="dk1"/>
                </a:solidFill>
                <a:latin typeface="Times New Roman"/>
                <a:ea typeface="Times New Roman"/>
                <a:cs typeface="Times New Roman"/>
                <a:sym typeface="Times New Roman"/>
              </a:rPr>
              <a:t> </a:t>
            </a:r>
            <a:r>
              <a:rPr lang="en-US" sz="1800" i="1" dirty="0">
                <a:solidFill>
                  <a:schemeClr val="dk1"/>
                </a:solidFill>
                <a:latin typeface="Times New Roman"/>
                <a:ea typeface="Times New Roman"/>
                <a:cs typeface="Times New Roman"/>
                <a:sym typeface="Times New Roman"/>
              </a:rPr>
              <a:t>and a Maximum Traversal Time Constraint</a:t>
            </a:r>
            <a:endParaRPr sz="24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
          <p:cNvSpPr txBox="1">
            <a:spLocks noGrp="1"/>
          </p:cNvSpPr>
          <p:nvPr>
            <p:ph type="title"/>
          </p:nvPr>
        </p:nvSpPr>
        <p:spPr>
          <a:xfrm>
            <a:off x="2592925" y="624110"/>
            <a:ext cx="8911687" cy="80065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1295C"/>
              </a:buClr>
              <a:buSzPts val="3600"/>
              <a:buFont typeface="Times New Roman"/>
              <a:buNone/>
            </a:pPr>
            <a:r>
              <a:rPr lang="en-US" b="1">
                <a:solidFill>
                  <a:srgbClr val="21295C"/>
                </a:solidFill>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178" name="Google Shape;178;p2"/>
          <p:cNvSpPr txBox="1">
            <a:spLocks noGrp="1"/>
          </p:cNvSpPr>
          <p:nvPr>
            <p:ph type="body" idx="1"/>
          </p:nvPr>
        </p:nvSpPr>
        <p:spPr>
          <a:xfrm>
            <a:off x="2404400" y="1698000"/>
            <a:ext cx="9100200" cy="4486500"/>
          </a:xfrm>
          <a:prstGeom prst="rect">
            <a:avLst/>
          </a:prstGeom>
          <a:noFill/>
          <a:ln>
            <a:noFill/>
          </a:ln>
        </p:spPr>
        <p:txBody>
          <a:bodyPr spcFirstLastPara="1" wrap="square" lIns="91425" tIns="45700" rIns="91425" bIns="45700" anchor="t" anchorCtr="0">
            <a:normAutofit fontScale="85000" lnSpcReduction="20000"/>
          </a:bodyPr>
          <a:lstStyle/>
          <a:p>
            <a:pPr marL="457200" lvl="0" indent="-355600" algn="l" rtl="0">
              <a:spcBef>
                <a:spcPts val="0"/>
              </a:spcBef>
              <a:spcAft>
                <a:spcPts val="0"/>
              </a:spcAft>
              <a:buClr>
                <a:srgbClr val="21295C"/>
              </a:buClr>
              <a:buSzPts val="2000"/>
              <a:buFont typeface="Times New Roman"/>
              <a:buChar char="❖"/>
            </a:pPr>
            <a:r>
              <a:rPr lang="en-US" sz="2000" b="1" dirty="0">
                <a:solidFill>
                  <a:srgbClr val="21295C"/>
                </a:solidFill>
                <a:latin typeface="Times New Roman"/>
                <a:ea typeface="Times New Roman"/>
                <a:cs typeface="Times New Roman"/>
                <a:sym typeface="Times New Roman"/>
              </a:rPr>
              <a:t>The problem</a:t>
            </a:r>
            <a:endParaRPr sz="2000" dirty="0">
              <a:solidFill>
                <a:srgbClr val="1A1A2E"/>
              </a:solidFill>
              <a:latin typeface="Times New Roman"/>
              <a:ea typeface="Times New Roman"/>
              <a:cs typeface="Times New Roman"/>
              <a:sym typeface="Times New Roman"/>
            </a:endParaRPr>
          </a:p>
          <a:p>
            <a:pPr indent="0">
              <a:spcBef>
                <a:spcPts val="0"/>
              </a:spcBef>
              <a:buNone/>
            </a:pPr>
            <a:r>
              <a:rPr lang="en-US" sz="2000" dirty="0">
                <a:solidFill>
                  <a:srgbClr val="1A1A2E"/>
                </a:solidFill>
                <a:latin typeface="Times New Roman"/>
                <a:ea typeface="Times New Roman"/>
                <a:cs typeface="Times New Roman"/>
                <a:sym typeface="Times New Roman"/>
              </a:rPr>
              <a:t>Think of an airport; Planes don't just fly.. before takeoff, they have to “drive” (taxi) from their gate to the runway, and same after landing back to the gate. That driving happens on a maze of paved paths called taxiways guided by air traffic controllers who tell each plane where to go and when.</a:t>
            </a:r>
            <a:br>
              <a:rPr lang="en-US" sz="2000" dirty="0">
                <a:solidFill>
                  <a:srgbClr val="1A1A2E"/>
                </a:solidFill>
                <a:latin typeface="Times New Roman"/>
                <a:ea typeface="Times New Roman"/>
                <a:cs typeface="Times New Roman"/>
                <a:sym typeface="Times New Roman"/>
              </a:rPr>
            </a:br>
            <a:endParaRPr sz="2000" dirty="0">
              <a:solidFill>
                <a:srgbClr val="1A1A2E"/>
              </a:solidFill>
              <a:latin typeface="Times New Roman"/>
              <a:ea typeface="Times New Roman"/>
              <a:cs typeface="Times New Roman"/>
              <a:sym typeface="Times New Roman"/>
            </a:endParaRPr>
          </a:p>
          <a:p>
            <a:pPr marL="457200" lvl="0" indent="0" algn="l" rtl="0">
              <a:spcBef>
                <a:spcPts val="0"/>
              </a:spcBef>
              <a:spcAft>
                <a:spcPts val="0"/>
              </a:spcAft>
              <a:buNone/>
            </a:pPr>
            <a:r>
              <a:rPr lang="en-US" sz="2000" dirty="0">
                <a:solidFill>
                  <a:srgbClr val="1A1A2E"/>
                </a:solidFill>
                <a:latin typeface="Times New Roman"/>
                <a:ea typeface="Times New Roman"/>
                <a:cs typeface="Times New Roman"/>
                <a:sym typeface="Times New Roman"/>
              </a:rPr>
              <a:t>The challenge is to plan routes and timings, so planes do not collide or block each other while moving safely.</a:t>
            </a:r>
          </a:p>
          <a:p>
            <a:pPr marL="457200" lvl="0" indent="0" algn="l" rtl="0">
              <a:spcBef>
                <a:spcPts val="0"/>
              </a:spcBef>
              <a:spcAft>
                <a:spcPts val="0"/>
              </a:spcAft>
              <a:buNone/>
            </a:pPr>
            <a:endParaRPr sz="2000" dirty="0">
              <a:solidFill>
                <a:srgbClr val="1A1A2E"/>
              </a:solidFill>
              <a:latin typeface="Times New Roman"/>
              <a:ea typeface="Times New Roman"/>
              <a:cs typeface="Times New Roman"/>
              <a:sym typeface="Times New Roman"/>
            </a:endParaRPr>
          </a:p>
          <a:p>
            <a:pPr marL="457200" lvl="0" indent="-355600" algn="l" rtl="0">
              <a:spcBef>
                <a:spcPts val="1000"/>
              </a:spcBef>
              <a:spcAft>
                <a:spcPts val="0"/>
              </a:spcAft>
              <a:buClr>
                <a:srgbClr val="21295C"/>
              </a:buClr>
              <a:buSzPts val="2000"/>
              <a:buFont typeface="Times New Roman"/>
              <a:buChar char="❖"/>
            </a:pPr>
            <a:r>
              <a:rPr lang="en-US" sz="2000" b="1" dirty="0">
                <a:solidFill>
                  <a:srgbClr val="21295C"/>
                </a:solidFill>
                <a:latin typeface="Times New Roman"/>
                <a:ea typeface="Times New Roman"/>
                <a:cs typeface="Times New Roman"/>
                <a:sym typeface="Times New Roman"/>
              </a:rPr>
              <a:t>The paper's approach</a:t>
            </a:r>
            <a:endParaRPr sz="2000" dirty="0">
              <a:latin typeface="Times New Roman"/>
              <a:ea typeface="Times New Roman"/>
              <a:cs typeface="Times New Roman"/>
              <a:sym typeface="Times New Roman"/>
            </a:endParaRPr>
          </a:p>
          <a:p>
            <a:pPr marL="457200" lvl="0" indent="0" algn="l" rtl="0">
              <a:spcBef>
                <a:spcPts val="1000"/>
              </a:spcBef>
              <a:spcAft>
                <a:spcPts val="0"/>
              </a:spcAft>
              <a:buNone/>
            </a:pPr>
            <a:r>
              <a:rPr lang="en-US" sz="2000" dirty="0">
                <a:solidFill>
                  <a:srgbClr val="1A1A2E"/>
                </a:solidFill>
                <a:latin typeface="Times New Roman"/>
                <a:ea typeface="Times New Roman"/>
                <a:cs typeface="Times New Roman"/>
                <a:sym typeface="Times New Roman"/>
              </a:rPr>
              <a:t>Zhang, Ding, and Zuo (2018) built on earlier time-window reservation approaches (Ravizza et al., 2014; Zhang, Ding, Wang, et al., 2016), which already guaranteed a conflict-free way to taxi by searching for the fastest route for each aircraft.</a:t>
            </a:r>
            <a:endParaRPr sz="2000" dirty="0">
              <a:solidFill>
                <a:srgbClr val="1A1A2E"/>
              </a:solidFill>
              <a:latin typeface="Times New Roman"/>
              <a:ea typeface="Times New Roman"/>
              <a:cs typeface="Times New Roman"/>
              <a:sym typeface="Times New Roman"/>
            </a:endParaRPr>
          </a:p>
          <a:p>
            <a:pPr marL="457200" lvl="0" indent="0" algn="l" rtl="0">
              <a:spcBef>
                <a:spcPts val="1000"/>
              </a:spcBef>
              <a:spcAft>
                <a:spcPts val="0"/>
              </a:spcAft>
              <a:buNone/>
            </a:pPr>
            <a:endParaRPr sz="2000" dirty="0">
              <a:solidFill>
                <a:srgbClr val="1A1A2E"/>
              </a:solidFill>
              <a:latin typeface="Times New Roman"/>
              <a:ea typeface="Times New Roman"/>
              <a:cs typeface="Times New Roman"/>
              <a:sym typeface="Times New Roman"/>
            </a:endParaRPr>
          </a:p>
          <a:p>
            <a:pPr marL="457200" lvl="0" indent="-355600" algn="l" rtl="0">
              <a:spcBef>
                <a:spcPts val="1000"/>
              </a:spcBef>
              <a:spcAft>
                <a:spcPts val="0"/>
              </a:spcAft>
              <a:buClr>
                <a:srgbClr val="21295C"/>
              </a:buClr>
              <a:buSzPts val="2000"/>
              <a:buFont typeface="Times New Roman"/>
              <a:buChar char="❖"/>
            </a:pPr>
            <a:r>
              <a:rPr lang="en-US" sz="2000" b="1" dirty="0">
                <a:solidFill>
                  <a:srgbClr val="21295C"/>
                </a:solidFill>
                <a:latin typeface="Times New Roman"/>
                <a:ea typeface="Times New Roman"/>
                <a:cs typeface="Times New Roman"/>
                <a:sym typeface="Times New Roman"/>
              </a:rPr>
              <a:t>What this project does</a:t>
            </a:r>
            <a:endParaRPr sz="2000" b="1" dirty="0">
              <a:solidFill>
                <a:srgbClr val="21295C"/>
              </a:solidFill>
              <a:latin typeface="Times New Roman"/>
              <a:ea typeface="Times New Roman"/>
              <a:cs typeface="Times New Roman"/>
              <a:sym typeface="Times New Roman"/>
            </a:endParaRPr>
          </a:p>
          <a:p>
            <a:pPr marL="457200" lvl="0" indent="0" algn="l" rtl="0">
              <a:spcBef>
                <a:spcPts val="1000"/>
              </a:spcBef>
              <a:spcAft>
                <a:spcPts val="0"/>
              </a:spcAft>
              <a:buNone/>
            </a:pPr>
            <a:r>
              <a:rPr lang="en-US" sz="2000" dirty="0">
                <a:solidFill>
                  <a:srgbClr val="1A1A2E"/>
                </a:solidFill>
                <a:latin typeface="Times New Roman"/>
                <a:ea typeface="Times New Roman"/>
                <a:cs typeface="Times New Roman"/>
                <a:sym typeface="Times New Roman"/>
              </a:rPr>
              <a:t>A from-scratch reproduction of the paper's actual algorithm and not just the general family of technique it improves upon, built and independently checked in Python.</a:t>
            </a:r>
            <a:endParaRPr sz="2000"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
          <p:cNvSpPr txBox="1">
            <a:spLocks noGrp="1"/>
          </p:cNvSpPr>
          <p:nvPr>
            <p:ph type="title"/>
          </p:nvPr>
        </p:nvSpPr>
        <p:spPr>
          <a:xfrm>
            <a:off x="2592925" y="624110"/>
            <a:ext cx="8911687" cy="69432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1295C"/>
              </a:buClr>
              <a:buSzPts val="3600"/>
              <a:buFont typeface="Times New Roman"/>
              <a:buNone/>
            </a:pPr>
            <a:r>
              <a:rPr lang="en-US" b="1">
                <a:solidFill>
                  <a:srgbClr val="21295C"/>
                </a:solidFill>
                <a:latin typeface="Times New Roman"/>
                <a:ea typeface="Times New Roman"/>
                <a:cs typeface="Times New Roman"/>
                <a:sym typeface="Times New Roman"/>
              </a:rPr>
              <a:t>Objectives</a:t>
            </a:r>
            <a:endParaRPr>
              <a:latin typeface="Times New Roman"/>
              <a:ea typeface="Times New Roman"/>
              <a:cs typeface="Times New Roman"/>
              <a:sym typeface="Times New Roman"/>
            </a:endParaRPr>
          </a:p>
        </p:txBody>
      </p:sp>
      <p:sp>
        <p:nvSpPr>
          <p:cNvPr id="184" name="Google Shape;184;p3"/>
          <p:cNvSpPr txBox="1">
            <a:spLocks noGrp="1"/>
          </p:cNvSpPr>
          <p:nvPr>
            <p:ph type="body" idx="1"/>
          </p:nvPr>
        </p:nvSpPr>
        <p:spPr>
          <a:xfrm>
            <a:off x="2589212" y="1828800"/>
            <a:ext cx="8915400" cy="44052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21295C"/>
              </a:buClr>
              <a:buSzPts val="1800"/>
              <a:buChar char="❖"/>
            </a:pPr>
            <a:r>
              <a:rPr lang="en-US" dirty="0">
                <a:solidFill>
                  <a:srgbClr val="1A1A2E"/>
                </a:solidFill>
                <a:latin typeface="Times New Roman"/>
                <a:ea typeface="Times New Roman"/>
                <a:cs typeface="Times New Roman"/>
                <a:sym typeface="Times New Roman"/>
              </a:rPr>
              <a:t>Implement Zhang, Ding, and Zuo's (2018) real SPPTW-MTTC algorithm from scratch</a:t>
            </a:r>
            <a:endParaRPr dirty="0">
              <a:latin typeface="Times New Roman"/>
              <a:ea typeface="Times New Roman"/>
              <a:cs typeface="Times New Roman"/>
              <a:sym typeface="Times New Roman"/>
            </a:endParaRPr>
          </a:p>
          <a:p>
            <a:pPr marL="342900" lvl="0" indent="-342900" algn="l" rtl="0">
              <a:spcBef>
                <a:spcPts val="3000"/>
              </a:spcBef>
              <a:spcAft>
                <a:spcPts val="0"/>
              </a:spcAft>
              <a:buClr>
                <a:srgbClr val="21295C"/>
              </a:buClr>
              <a:buSzPts val="1800"/>
              <a:buChar char="❖"/>
            </a:pPr>
            <a:r>
              <a:rPr lang="en-US" dirty="0">
                <a:solidFill>
                  <a:srgbClr val="1A1A2E"/>
                </a:solidFill>
                <a:latin typeface="Times New Roman"/>
                <a:ea typeface="Times New Roman"/>
                <a:cs typeface="Times New Roman"/>
                <a:sym typeface="Times New Roman"/>
              </a:rPr>
              <a:t>Build, and independently check, a system that schedules aircraft taxiing with no conflicts, while obeying a maximum-wait rule</a:t>
            </a:r>
            <a:endParaRPr dirty="0">
              <a:latin typeface="Times New Roman"/>
              <a:ea typeface="Times New Roman"/>
              <a:cs typeface="Times New Roman"/>
              <a:sym typeface="Times New Roman"/>
            </a:endParaRPr>
          </a:p>
          <a:p>
            <a:pPr marL="342900" lvl="0" indent="-342900" algn="l" rtl="0">
              <a:spcBef>
                <a:spcPts val="3000"/>
              </a:spcBef>
              <a:spcAft>
                <a:spcPts val="0"/>
              </a:spcAft>
              <a:buClr>
                <a:srgbClr val="21295C"/>
              </a:buClr>
              <a:buSzPts val="1800"/>
              <a:buChar char="❖"/>
            </a:pPr>
            <a:r>
              <a:rPr lang="en-US" dirty="0">
                <a:solidFill>
                  <a:srgbClr val="1A1A2E"/>
                </a:solidFill>
                <a:latin typeface="Times New Roman"/>
                <a:ea typeface="Times New Roman"/>
                <a:cs typeface="Times New Roman"/>
                <a:sym typeface="Times New Roman"/>
              </a:rPr>
              <a:t>Show Intelligent Systems ideas at work in a real system: smart (heuristic) search, how we represent knowledge about the airport, handling time-based rules, and coordinating several aircraft at once</a:t>
            </a:r>
            <a:endParaRPr dirty="0">
              <a:latin typeface="Times New Roman"/>
              <a:ea typeface="Times New Roman"/>
              <a:cs typeface="Times New Roman"/>
              <a:sym typeface="Times New Roman"/>
            </a:endParaRPr>
          </a:p>
          <a:p>
            <a:pPr marL="342900" lvl="0" indent="-342900" algn="l" rtl="0">
              <a:spcBef>
                <a:spcPts val="3000"/>
              </a:spcBef>
              <a:spcAft>
                <a:spcPts val="0"/>
              </a:spcAft>
              <a:buClr>
                <a:srgbClr val="21295C"/>
              </a:buClr>
              <a:buSzPts val="1800"/>
              <a:buChar char="❖"/>
            </a:pPr>
            <a:r>
              <a:rPr lang="en-US" dirty="0">
                <a:solidFill>
                  <a:srgbClr val="1A1A2E"/>
                </a:solidFill>
                <a:latin typeface="Times New Roman"/>
                <a:ea typeface="Times New Roman"/>
                <a:cs typeface="Times New Roman"/>
                <a:sym typeface="Times New Roman"/>
              </a:rPr>
              <a:t>Find and fix real bugs in the code by testing it, not just by reading it</a:t>
            </a:r>
            <a:endParaRPr dirty="0">
              <a:latin typeface="Times New Roman"/>
              <a:ea typeface="Times New Roman"/>
              <a:cs typeface="Times New Roman"/>
              <a:sym typeface="Times New Roman"/>
            </a:endParaRPr>
          </a:p>
          <a:p>
            <a:pPr marL="342900" lvl="0">
              <a:spcBef>
                <a:spcPts val="3000"/>
              </a:spcBef>
              <a:buClr>
                <a:srgbClr val="21295C"/>
              </a:buClr>
              <a:buChar char="❖"/>
            </a:pPr>
            <a:r>
              <a:rPr lang="en-US" dirty="0">
                <a:solidFill>
                  <a:srgbClr val="1A1A2E"/>
                </a:solidFill>
                <a:latin typeface="Times New Roman"/>
                <a:ea typeface="Times New Roman"/>
                <a:cs typeface="Times New Roman"/>
                <a:sym typeface="Times New Roman"/>
              </a:rPr>
              <a:t>Present clear, reproducible evidence of the paper's real-world payoff : planes wait at the gate instead of stopping and starting mid-way on the taxiway</a:t>
            </a:r>
            <a:endParaRPr dirty="0">
              <a:solidFill>
                <a:srgbClr val="1A1A2E"/>
              </a:solidFill>
              <a:latin typeface="Times New Roman"/>
              <a:ea typeface="Times New Roman"/>
              <a:cs typeface="Times New Roman"/>
              <a:sym typeface="Times New Roman"/>
            </a:endParaRPr>
          </a:p>
          <a:p>
            <a:pPr marL="342900" lvl="0" indent="0" algn="l" rtl="0">
              <a:spcBef>
                <a:spcPts val="3000"/>
              </a:spcBef>
              <a:spcAft>
                <a:spcPts val="0"/>
              </a:spcAft>
              <a:buNone/>
            </a:pPr>
            <a:endParaRPr dirty="0">
              <a:solidFill>
                <a:srgbClr val="1A1A2E"/>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5"/>
          <p:cNvSpPr txBox="1">
            <a:spLocks noGrp="1"/>
          </p:cNvSpPr>
          <p:nvPr>
            <p:ph type="title"/>
          </p:nvPr>
        </p:nvSpPr>
        <p:spPr>
          <a:xfrm>
            <a:off x="2592925" y="624110"/>
            <a:ext cx="8911687" cy="69432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1295C"/>
              </a:buClr>
              <a:buSzPts val="3600"/>
              <a:buFont typeface="Times New Roman"/>
              <a:buNone/>
            </a:pPr>
            <a:r>
              <a:rPr lang="en-US" b="1">
                <a:solidFill>
                  <a:srgbClr val="21295C"/>
                </a:solidFill>
                <a:latin typeface="Times New Roman"/>
                <a:ea typeface="Times New Roman"/>
                <a:cs typeface="Times New Roman"/>
                <a:sym typeface="Times New Roman"/>
              </a:rPr>
              <a:t>The Paper's Actual Contributions</a:t>
            </a:r>
            <a:endParaRPr>
              <a:latin typeface="Times New Roman"/>
              <a:ea typeface="Times New Roman"/>
              <a:cs typeface="Times New Roman"/>
              <a:sym typeface="Times New Roman"/>
            </a:endParaRPr>
          </a:p>
        </p:txBody>
      </p:sp>
      <p:sp>
        <p:nvSpPr>
          <p:cNvPr id="196" name="Google Shape;196;p5"/>
          <p:cNvSpPr txBox="1">
            <a:spLocks noGrp="1"/>
          </p:cNvSpPr>
          <p:nvPr>
            <p:ph type="body" idx="1"/>
          </p:nvPr>
        </p:nvSpPr>
        <p:spPr>
          <a:xfrm>
            <a:off x="2589212" y="1552353"/>
            <a:ext cx="8915400" cy="4774019"/>
          </a:xfrm>
          <a:prstGeom prst="rect">
            <a:avLst/>
          </a:prstGeom>
          <a:noFill/>
          <a:ln>
            <a:noFill/>
          </a:ln>
        </p:spPr>
        <p:txBody>
          <a:bodyPr spcFirstLastPara="1" wrap="square" lIns="91425" tIns="45700" rIns="91425" bIns="45700" anchor="t" anchorCtr="0">
            <a:normAutofit fontScale="92500" lnSpcReduction="20000"/>
          </a:bodyPr>
          <a:lstStyle/>
          <a:p>
            <a:pPr marL="457200" lvl="0" indent="-334328" algn="l" rtl="0">
              <a:spcBef>
                <a:spcPts val="0"/>
              </a:spcBef>
              <a:spcAft>
                <a:spcPts val="0"/>
              </a:spcAft>
              <a:buClr>
                <a:srgbClr val="21295C"/>
              </a:buClr>
              <a:buSzPct val="100000"/>
              <a:buFont typeface="Times New Roman"/>
              <a:buChar char="❖"/>
            </a:pPr>
            <a:r>
              <a:rPr lang="en-US" b="1" dirty="0">
                <a:solidFill>
                  <a:srgbClr val="21295C"/>
                </a:solidFill>
                <a:latin typeface="Times New Roman"/>
                <a:ea typeface="Times New Roman"/>
                <a:cs typeface="Times New Roman"/>
                <a:sym typeface="Times New Roman"/>
              </a:rPr>
              <a:t>Maximum Waiting Time Limit</a:t>
            </a:r>
            <a:endParaRPr dirty="0">
              <a:latin typeface="Times New Roman"/>
              <a:ea typeface="Times New Roman"/>
              <a:cs typeface="Times New Roman"/>
              <a:sym typeface="Times New Roman"/>
            </a:endParaRPr>
          </a:p>
          <a:p>
            <a:pPr marL="457200" lvl="0" indent="0" algn="l" rtl="0">
              <a:spcBef>
                <a:spcPts val="0"/>
              </a:spcBef>
              <a:spcAft>
                <a:spcPts val="0"/>
              </a:spcAft>
              <a:buNone/>
            </a:pPr>
            <a:r>
              <a:rPr lang="en-US" dirty="0">
                <a:solidFill>
                  <a:srgbClr val="1A1A2E"/>
                </a:solidFill>
                <a:latin typeface="Times New Roman"/>
                <a:ea typeface="Times New Roman"/>
                <a:cs typeface="Times New Roman"/>
                <a:sym typeface="Times New Roman"/>
              </a:rPr>
              <a:t>Every part of the taxiway network has a maximum time a plane may spend there. Waiting longer than that is simply not allowed.</a:t>
            </a:r>
            <a:endParaRPr dirty="0">
              <a:solidFill>
                <a:srgbClr val="1A1A2E"/>
              </a:solidFill>
              <a:latin typeface="Times New Roman"/>
              <a:ea typeface="Times New Roman"/>
              <a:cs typeface="Times New Roman"/>
              <a:sym typeface="Times New Roman"/>
            </a:endParaRPr>
          </a:p>
          <a:p>
            <a:pPr marL="457200" lvl="0" indent="0" algn="l" rtl="0">
              <a:spcBef>
                <a:spcPts val="0"/>
              </a:spcBef>
              <a:spcAft>
                <a:spcPts val="0"/>
              </a:spcAft>
              <a:buNone/>
            </a:pPr>
            <a:endParaRPr dirty="0">
              <a:solidFill>
                <a:srgbClr val="1A1A2E"/>
              </a:solidFill>
              <a:latin typeface="Times New Roman"/>
              <a:ea typeface="Times New Roman"/>
              <a:cs typeface="Times New Roman"/>
              <a:sym typeface="Times New Roman"/>
            </a:endParaRPr>
          </a:p>
          <a:p>
            <a:pPr marL="457200" lvl="0" indent="-334328" algn="l" rtl="0">
              <a:spcBef>
                <a:spcPts val="1000"/>
              </a:spcBef>
              <a:spcAft>
                <a:spcPts val="0"/>
              </a:spcAft>
              <a:buClr>
                <a:srgbClr val="21295C"/>
              </a:buClr>
              <a:buSzPct val="100000"/>
              <a:buFont typeface="Times New Roman"/>
              <a:buChar char="❖"/>
            </a:pPr>
            <a:r>
              <a:rPr lang="en-US" b="1" dirty="0">
                <a:solidFill>
                  <a:srgbClr val="21295C"/>
                </a:solidFill>
                <a:latin typeface="Times New Roman"/>
                <a:ea typeface="Times New Roman"/>
                <a:cs typeface="Times New Roman"/>
                <a:sym typeface="Times New Roman"/>
              </a:rPr>
              <a:t>Tracking a Range of Arrival Times</a:t>
            </a:r>
            <a:endParaRPr dirty="0">
              <a:latin typeface="Times New Roman"/>
              <a:ea typeface="Times New Roman"/>
              <a:cs typeface="Times New Roman"/>
              <a:sym typeface="Times New Roman"/>
            </a:endParaRPr>
          </a:p>
          <a:p>
            <a:pPr marL="457200" lvl="0" indent="0" algn="l" rtl="0">
              <a:spcBef>
                <a:spcPts val="1000"/>
              </a:spcBef>
              <a:spcAft>
                <a:spcPts val="0"/>
              </a:spcAft>
              <a:buNone/>
            </a:pPr>
            <a:r>
              <a:rPr lang="en-US" dirty="0">
                <a:solidFill>
                  <a:srgbClr val="1A1A2E"/>
                </a:solidFill>
                <a:latin typeface="Times New Roman"/>
                <a:ea typeface="Times New Roman"/>
                <a:cs typeface="Times New Roman"/>
                <a:sym typeface="Times New Roman"/>
              </a:rPr>
              <a:t>Instead of tracking only the earliest possible arrival time at each spot, the system tracks a whole range of times - so the maximum-wait rule never accidentally throws away a good route.</a:t>
            </a:r>
            <a:endParaRPr dirty="0">
              <a:solidFill>
                <a:srgbClr val="1A1A2E"/>
              </a:solidFill>
              <a:latin typeface="Times New Roman"/>
              <a:ea typeface="Times New Roman"/>
              <a:cs typeface="Times New Roman"/>
              <a:sym typeface="Times New Roman"/>
            </a:endParaRPr>
          </a:p>
          <a:p>
            <a:pPr marL="457200" lvl="0" indent="0" algn="l" rtl="0">
              <a:spcBef>
                <a:spcPts val="1000"/>
              </a:spcBef>
              <a:spcAft>
                <a:spcPts val="0"/>
              </a:spcAft>
              <a:buNone/>
            </a:pPr>
            <a:endParaRPr dirty="0">
              <a:solidFill>
                <a:srgbClr val="1A1A2E"/>
              </a:solidFill>
              <a:latin typeface="Times New Roman"/>
              <a:ea typeface="Times New Roman"/>
              <a:cs typeface="Times New Roman"/>
              <a:sym typeface="Times New Roman"/>
            </a:endParaRPr>
          </a:p>
          <a:p>
            <a:pPr marL="457200" lvl="0" indent="-334328" algn="l" rtl="0">
              <a:spcBef>
                <a:spcPts val="1000"/>
              </a:spcBef>
              <a:spcAft>
                <a:spcPts val="0"/>
              </a:spcAft>
              <a:buClr>
                <a:srgbClr val="21295C"/>
              </a:buClr>
              <a:buSzPct val="100000"/>
              <a:buFont typeface="Times New Roman"/>
              <a:buChar char="❖"/>
            </a:pPr>
            <a:r>
              <a:rPr lang="en-US" b="1" dirty="0">
                <a:solidFill>
                  <a:srgbClr val="21295C"/>
                </a:solidFill>
                <a:latin typeface="Times New Roman"/>
                <a:ea typeface="Times New Roman"/>
                <a:cs typeface="Times New Roman"/>
                <a:sym typeface="Times New Roman"/>
              </a:rPr>
              <a:t>Cost That Also Counts Driving Time</a:t>
            </a:r>
            <a:endParaRPr dirty="0">
              <a:latin typeface="Times New Roman"/>
              <a:ea typeface="Times New Roman"/>
              <a:cs typeface="Times New Roman"/>
              <a:sym typeface="Times New Roman"/>
            </a:endParaRPr>
          </a:p>
          <a:p>
            <a:pPr marL="457200" lvl="0" indent="0" algn="l" rtl="0">
              <a:spcBef>
                <a:spcPts val="1000"/>
              </a:spcBef>
              <a:spcAft>
                <a:spcPts val="0"/>
              </a:spcAft>
              <a:buNone/>
            </a:pPr>
            <a:r>
              <a:rPr lang="en-US" dirty="0">
                <a:solidFill>
                  <a:srgbClr val="1A1A2E"/>
                </a:solidFill>
                <a:latin typeface="Times New Roman"/>
                <a:ea typeface="Times New Roman"/>
                <a:cs typeface="Times New Roman"/>
                <a:sym typeface="Times New Roman"/>
              </a:rPr>
              <a:t>The cost of a plan is the finishing time so far, plus the actual driving time so far (waiting is never counted as driving). Between two plans that finish at the same time, the one that drove less is preferred - so gaps in the schedule get filled with waiting, not extra driving.</a:t>
            </a:r>
            <a:endParaRPr dirty="0">
              <a:solidFill>
                <a:srgbClr val="1A1A2E"/>
              </a:solidFill>
              <a:latin typeface="Times New Roman"/>
              <a:ea typeface="Times New Roman"/>
              <a:cs typeface="Times New Roman"/>
              <a:sym typeface="Times New Roman"/>
            </a:endParaRPr>
          </a:p>
          <a:p>
            <a:pPr marL="457200" lvl="0" indent="0" algn="l" rtl="0">
              <a:spcBef>
                <a:spcPts val="1000"/>
              </a:spcBef>
              <a:spcAft>
                <a:spcPts val="0"/>
              </a:spcAft>
              <a:buNone/>
            </a:pPr>
            <a:endParaRPr dirty="0">
              <a:solidFill>
                <a:srgbClr val="1A1A2E"/>
              </a:solidFill>
              <a:latin typeface="Times New Roman"/>
              <a:ea typeface="Times New Roman"/>
              <a:cs typeface="Times New Roman"/>
              <a:sym typeface="Times New Roman"/>
            </a:endParaRPr>
          </a:p>
          <a:p>
            <a:pPr marL="457200" lvl="0" indent="-334328" algn="l" rtl="0">
              <a:spcBef>
                <a:spcPts val="1000"/>
              </a:spcBef>
              <a:spcAft>
                <a:spcPts val="0"/>
              </a:spcAft>
              <a:buClr>
                <a:srgbClr val="21295C"/>
              </a:buClr>
              <a:buSzPct val="100000"/>
              <a:buFont typeface="Times New Roman"/>
              <a:buChar char="❖"/>
            </a:pPr>
            <a:r>
              <a:rPr lang="en-US" b="1" dirty="0">
                <a:solidFill>
                  <a:srgbClr val="21295C"/>
                </a:solidFill>
                <a:latin typeface="Times New Roman"/>
                <a:ea typeface="Times New Roman"/>
                <a:cs typeface="Times New Roman"/>
                <a:sym typeface="Times New Roman"/>
              </a:rPr>
              <a:t>Working Backwards to Delay Pushback</a:t>
            </a:r>
            <a:endParaRPr dirty="0">
              <a:latin typeface="Times New Roman"/>
              <a:ea typeface="Times New Roman"/>
              <a:cs typeface="Times New Roman"/>
              <a:sym typeface="Times New Roman"/>
            </a:endParaRPr>
          </a:p>
          <a:p>
            <a:pPr marL="457200" lvl="0" indent="0" algn="l" rtl="0">
              <a:spcBef>
                <a:spcPts val="1000"/>
              </a:spcBef>
              <a:spcAft>
                <a:spcPts val="0"/>
              </a:spcAft>
              <a:buNone/>
            </a:pPr>
            <a:r>
              <a:rPr lang="en-US" dirty="0">
                <a:solidFill>
                  <a:srgbClr val="1A1A2E"/>
                </a:solidFill>
                <a:latin typeface="Times New Roman"/>
                <a:ea typeface="Times New Roman"/>
                <a:cs typeface="Times New Roman"/>
                <a:sym typeface="Times New Roman"/>
              </a:rPr>
              <a:t>Once a route is chosen, the system decides where any needed waiting should go, and always pushes it as early as possible - ideally one wait at the gate instead of several short stops along the way.</a:t>
            </a:r>
            <a:endParaRPr dirty="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6"/>
          <p:cNvSpPr txBox="1">
            <a:spLocks noGrp="1"/>
          </p:cNvSpPr>
          <p:nvPr>
            <p:ph type="title"/>
          </p:nvPr>
        </p:nvSpPr>
        <p:spPr>
          <a:xfrm>
            <a:off x="2592925" y="624110"/>
            <a:ext cx="8911687" cy="68369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1295C"/>
              </a:buClr>
              <a:buSzPts val="3600"/>
              <a:buFont typeface="Times New Roman"/>
              <a:buNone/>
            </a:pPr>
            <a:r>
              <a:rPr lang="en-US" b="1">
                <a:solidFill>
                  <a:srgbClr val="21295C"/>
                </a:solidFill>
                <a:latin typeface="Times New Roman"/>
                <a:ea typeface="Times New Roman"/>
                <a:cs typeface="Times New Roman"/>
                <a:sym typeface="Times New Roman"/>
              </a:rPr>
              <a:t>Two Different Jobs, Easy to Mix Up</a:t>
            </a:r>
            <a:endParaRPr>
              <a:latin typeface="Times New Roman"/>
              <a:ea typeface="Times New Roman"/>
              <a:cs typeface="Times New Roman"/>
              <a:sym typeface="Times New Roman"/>
            </a:endParaRPr>
          </a:p>
        </p:txBody>
      </p:sp>
      <p:sp>
        <p:nvSpPr>
          <p:cNvPr id="202" name="Google Shape;202;p6"/>
          <p:cNvSpPr txBox="1">
            <a:spLocks noGrp="1"/>
          </p:cNvSpPr>
          <p:nvPr>
            <p:ph type="body" idx="1"/>
          </p:nvPr>
        </p:nvSpPr>
        <p:spPr>
          <a:xfrm>
            <a:off x="2589212" y="1488558"/>
            <a:ext cx="8915400" cy="4422664"/>
          </a:xfrm>
          <a:prstGeom prst="rect">
            <a:avLst/>
          </a:prstGeom>
          <a:noFill/>
          <a:ln>
            <a:noFill/>
          </a:ln>
        </p:spPr>
        <p:txBody>
          <a:bodyPr spcFirstLastPara="1" wrap="square" lIns="91425" tIns="45700" rIns="91425" bIns="45700" anchor="t" anchorCtr="0">
            <a:normAutofit fontScale="92500" lnSpcReduction="20000"/>
          </a:bodyPr>
          <a:lstStyle/>
          <a:p>
            <a:pPr marL="457200" lvl="0" indent="-342900" algn="l" rtl="0">
              <a:spcBef>
                <a:spcPts val="0"/>
              </a:spcBef>
              <a:spcAft>
                <a:spcPts val="0"/>
              </a:spcAft>
              <a:buClr>
                <a:srgbClr val="1A1A2E"/>
              </a:buClr>
              <a:buSzPts val="1800"/>
              <a:buFont typeface="Times New Roman"/>
              <a:buChar char="❖"/>
            </a:pPr>
            <a:r>
              <a:rPr lang="en-US">
                <a:solidFill>
                  <a:srgbClr val="1A1A2E"/>
                </a:solidFill>
                <a:latin typeface="Times New Roman"/>
                <a:ea typeface="Times New Roman"/>
                <a:cs typeface="Times New Roman"/>
                <a:sym typeface="Times New Roman"/>
              </a:rPr>
              <a:t>The total time for any trip = driving time (fixed once you pick a route) + waiting time (however much the schedule needs).</a:t>
            </a:r>
            <a:endParaRPr>
              <a:solidFill>
                <a:srgbClr val="1A1A2E"/>
              </a:solidFill>
              <a:latin typeface="Times New Roman"/>
              <a:ea typeface="Times New Roman"/>
              <a:cs typeface="Times New Roman"/>
              <a:sym typeface="Times New Roman"/>
            </a:endParaRPr>
          </a:p>
          <a:p>
            <a:pPr marL="457200" lvl="0" indent="0" algn="l" rtl="0">
              <a:spcBef>
                <a:spcPts val="0"/>
              </a:spcBef>
              <a:spcAft>
                <a:spcPts val="0"/>
              </a:spcAft>
              <a:buNone/>
            </a:pPr>
            <a:endParaRPr>
              <a:solidFill>
                <a:srgbClr val="1A1A2E"/>
              </a:solidFill>
              <a:latin typeface="Times New Roman"/>
              <a:ea typeface="Times New Roman"/>
              <a:cs typeface="Times New Roman"/>
              <a:sym typeface="Times New Roman"/>
            </a:endParaRPr>
          </a:p>
          <a:p>
            <a:pPr marL="457200" lvl="0" indent="-342900" algn="l" rtl="0">
              <a:spcBef>
                <a:spcPts val="1000"/>
              </a:spcBef>
              <a:spcAft>
                <a:spcPts val="0"/>
              </a:spcAft>
              <a:buClr>
                <a:schemeClr val="dk1"/>
              </a:buClr>
              <a:buSzPts val="1800"/>
              <a:buFont typeface="Times New Roman"/>
              <a:buChar char="❖"/>
            </a:pPr>
            <a:r>
              <a:rPr lang="en-US" b="1">
                <a:solidFill>
                  <a:schemeClr val="dk1"/>
                </a:solidFill>
                <a:latin typeface="Times New Roman"/>
                <a:ea typeface="Times New Roman"/>
                <a:cs typeface="Times New Roman"/>
                <a:sym typeface="Times New Roman"/>
              </a:rPr>
              <a:t>Cost that counts driving time</a:t>
            </a:r>
            <a:r>
              <a:rPr lang="en-US">
                <a:solidFill>
                  <a:schemeClr val="dk1"/>
                </a:solidFill>
                <a:latin typeface="Times New Roman"/>
                <a:ea typeface="Times New Roman"/>
                <a:cs typeface="Times New Roman"/>
                <a:sym typeface="Times New Roman"/>
              </a:rPr>
              <a:t> </a:t>
            </a:r>
            <a:r>
              <a:rPr lang="en-US" b="1">
                <a:solidFill>
                  <a:schemeClr val="dk1"/>
                </a:solidFill>
                <a:latin typeface="Times New Roman"/>
                <a:ea typeface="Times New Roman"/>
                <a:cs typeface="Times New Roman"/>
                <a:sym typeface="Times New Roman"/>
              </a:rPr>
              <a:t>= CHOOSING THE ROUTE</a:t>
            </a:r>
            <a:endParaRPr/>
          </a:p>
          <a:p>
            <a:pPr marL="457200" lvl="0" indent="0" algn="l" rtl="0">
              <a:spcBef>
                <a:spcPts val="1000"/>
              </a:spcBef>
              <a:spcAft>
                <a:spcPts val="0"/>
              </a:spcAft>
              <a:buNone/>
            </a:pPr>
            <a:r>
              <a:rPr lang="en-US">
                <a:solidFill>
                  <a:srgbClr val="1A1A2E"/>
                </a:solidFill>
                <a:latin typeface="Times New Roman"/>
                <a:ea typeface="Times New Roman"/>
                <a:cs typeface="Times New Roman"/>
                <a:sym typeface="Times New Roman"/>
              </a:rPr>
              <a:t>Because waiting is never counted as driving time, between two routes that finish at the same time, the system always prefers the one that drove less - it would rather fill a gap in the schedule with waiting than with an unnecessary detour.</a:t>
            </a:r>
            <a:endParaRPr>
              <a:solidFill>
                <a:srgbClr val="1A1A2E"/>
              </a:solidFill>
              <a:latin typeface="Times New Roman"/>
              <a:ea typeface="Times New Roman"/>
              <a:cs typeface="Times New Roman"/>
              <a:sym typeface="Times New Roman"/>
            </a:endParaRPr>
          </a:p>
          <a:p>
            <a:pPr marL="457200" lvl="0" indent="0" algn="l" rtl="0">
              <a:spcBef>
                <a:spcPts val="1000"/>
              </a:spcBef>
              <a:spcAft>
                <a:spcPts val="0"/>
              </a:spcAft>
              <a:buNone/>
            </a:pPr>
            <a:endParaRPr>
              <a:solidFill>
                <a:srgbClr val="1A1A2E"/>
              </a:solidFill>
              <a:latin typeface="Times New Roman"/>
              <a:ea typeface="Times New Roman"/>
              <a:cs typeface="Times New Roman"/>
              <a:sym typeface="Times New Roman"/>
            </a:endParaRPr>
          </a:p>
          <a:p>
            <a:pPr marL="457200" lvl="0" indent="-342900" algn="l" rtl="0">
              <a:spcBef>
                <a:spcPts val="1000"/>
              </a:spcBef>
              <a:spcAft>
                <a:spcPts val="0"/>
              </a:spcAft>
              <a:buClr>
                <a:schemeClr val="dk1"/>
              </a:buClr>
              <a:buSzPts val="1800"/>
              <a:buFont typeface="Times New Roman"/>
              <a:buChar char="❖"/>
            </a:pPr>
            <a:r>
              <a:rPr lang="en-US" b="1">
                <a:solidFill>
                  <a:schemeClr val="dk1"/>
                </a:solidFill>
                <a:latin typeface="Times New Roman"/>
                <a:ea typeface="Times New Roman"/>
                <a:cs typeface="Times New Roman"/>
                <a:sym typeface="Times New Roman"/>
              </a:rPr>
              <a:t>Working backwards</a:t>
            </a:r>
            <a:r>
              <a:rPr lang="en-US">
                <a:solidFill>
                  <a:schemeClr val="dk1"/>
                </a:solidFill>
                <a:latin typeface="Times New Roman"/>
                <a:ea typeface="Times New Roman"/>
                <a:cs typeface="Times New Roman"/>
                <a:sym typeface="Times New Roman"/>
              </a:rPr>
              <a:t> </a:t>
            </a:r>
            <a:r>
              <a:rPr lang="en-US" b="1">
                <a:solidFill>
                  <a:schemeClr val="dk1"/>
                </a:solidFill>
                <a:latin typeface="Times New Roman"/>
                <a:ea typeface="Times New Roman"/>
                <a:cs typeface="Times New Roman"/>
                <a:sym typeface="Times New Roman"/>
              </a:rPr>
              <a:t>= DECIDING WHERE TO WAIT</a:t>
            </a:r>
            <a:endParaRPr>
              <a:solidFill>
                <a:schemeClr val="dk1"/>
              </a:solidFill>
              <a:latin typeface="Times New Roman"/>
              <a:ea typeface="Times New Roman"/>
              <a:cs typeface="Times New Roman"/>
              <a:sym typeface="Times New Roman"/>
            </a:endParaRPr>
          </a:p>
          <a:p>
            <a:pPr marL="457200" lvl="0" indent="0" algn="l" rtl="0">
              <a:spcBef>
                <a:spcPts val="1000"/>
              </a:spcBef>
              <a:spcAft>
                <a:spcPts val="0"/>
              </a:spcAft>
              <a:buNone/>
            </a:pPr>
            <a:r>
              <a:rPr lang="en-US">
                <a:solidFill>
                  <a:srgbClr val="1A1A2E"/>
                </a:solidFill>
                <a:latin typeface="Times New Roman"/>
                <a:ea typeface="Times New Roman"/>
                <a:cs typeface="Times New Roman"/>
                <a:sym typeface="Times New Roman"/>
              </a:rPr>
              <a:t>Once the route is chosen, and we know some waiting can't be avoided, this step decides where that waiting goes - pushing it as early as possible, ideally as one wait at the gate instead of several stops along the way.</a:t>
            </a:r>
            <a:endParaRPr>
              <a:latin typeface="Times New Roman"/>
              <a:ea typeface="Times New Roman"/>
              <a:cs typeface="Times New Roman"/>
              <a:sym typeface="Times New Roman"/>
            </a:endParaRPr>
          </a:p>
          <a:p>
            <a:pPr marL="342900" lvl="0" indent="-228600" algn="l" rtl="0">
              <a:spcBef>
                <a:spcPts val="1000"/>
              </a:spcBef>
              <a:spcAft>
                <a:spcPts val="0"/>
              </a:spcAft>
              <a:buSzPts val="1800"/>
              <a:buNone/>
            </a:pPr>
            <a:endParaRPr>
              <a:latin typeface="Times New Roman"/>
              <a:ea typeface="Times New Roman"/>
              <a:cs typeface="Times New Roman"/>
              <a:sym typeface="Times New Roman"/>
            </a:endParaRPr>
          </a:p>
          <a:p>
            <a:pPr marL="342900" lvl="0" indent="0" algn="l" rtl="0">
              <a:spcBef>
                <a:spcPts val="1000"/>
              </a:spcBef>
              <a:spcAft>
                <a:spcPts val="0"/>
              </a:spcAft>
              <a:buNone/>
            </a:pPr>
            <a:r>
              <a:rPr lang="en-US" b="1" i="1">
                <a:solidFill>
                  <a:schemeClr val="dk1"/>
                </a:solidFill>
                <a:latin typeface="Times New Roman"/>
                <a:ea typeface="Times New Roman"/>
                <a:cs typeface="Times New Roman"/>
                <a:sym typeface="Times New Roman"/>
              </a:rPr>
              <a:t>Put together: no wasted distance (choosing the route) + no wasted stopping and starting (deciding where to wait) = wait at the gate, then drive straight through.</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7"/>
          <p:cNvSpPr txBox="1">
            <a:spLocks noGrp="1"/>
          </p:cNvSpPr>
          <p:nvPr>
            <p:ph type="title"/>
          </p:nvPr>
        </p:nvSpPr>
        <p:spPr>
          <a:xfrm>
            <a:off x="2592925" y="624110"/>
            <a:ext cx="8911687" cy="76875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1295C"/>
              </a:buClr>
              <a:buSzPts val="3600"/>
              <a:buFont typeface="Times New Roman"/>
              <a:buNone/>
            </a:pPr>
            <a:r>
              <a:rPr lang="en-US" b="1">
                <a:solidFill>
                  <a:srgbClr val="21295C"/>
                </a:solidFill>
                <a:latin typeface="Times New Roman"/>
                <a:ea typeface="Times New Roman"/>
                <a:cs typeface="Times New Roman"/>
                <a:sym typeface="Times New Roman"/>
              </a:rPr>
              <a:t>The Search Formula: f(n) = g(n) + h(n)</a:t>
            </a:r>
            <a:endParaRPr>
              <a:latin typeface="Times New Roman"/>
              <a:ea typeface="Times New Roman"/>
              <a:cs typeface="Times New Roman"/>
              <a:sym typeface="Times New Roman"/>
            </a:endParaRPr>
          </a:p>
        </p:txBody>
      </p:sp>
      <p:sp>
        <p:nvSpPr>
          <p:cNvPr id="208" name="Google Shape;208;p7"/>
          <p:cNvSpPr txBox="1">
            <a:spLocks noGrp="1"/>
          </p:cNvSpPr>
          <p:nvPr>
            <p:ph type="body" idx="1"/>
          </p:nvPr>
        </p:nvSpPr>
        <p:spPr>
          <a:xfrm>
            <a:off x="2589212" y="1711841"/>
            <a:ext cx="8915400" cy="4221125"/>
          </a:xfrm>
          <a:prstGeom prst="rect">
            <a:avLst/>
          </a:prstGeom>
          <a:noFill/>
          <a:ln>
            <a:noFill/>
          </a:ln>
        </p:spPr>
        <p:txBody>
          <a:bodyPr spcFirstLastPara="1" wrap="square" lIns="91425" tIns="45700" rIns="91425" bIns="45700" anchor="t" anchorCtr="0">
            <a:normAutofit lnSpcReduction="10000"/>
          </a:bodyPr>
          <a:lstStyle/>
          <a:p>
            <a:pPr marL="457200" lvl="0" indent="-342900" algn="l" rtl="0">
              <a:spcBef>
                <a:spcPts val="0"/>
              </a:spcBef>
              <a:spcAft>
                <a:spcPts val="0"/>
              </a:spcAft>
              <a:buClr>
                <a:schemeClr val="dk1"/>
              </a:buClr>
              <a:buSzPts val="1800"/>
              <a:buFont typeface="Times New Roman"/>
              <a:buChar char="❖"/>
            </a:pPr>
            <a:r>
              <a:rPr lang="en-US" b="1">
                <a:solidFill>
                  <a:schemeClr val="dk1"/>
                </a:solidFill>
                <a:latin typeface="Times New Roman"/>
                <a:ea typeface="Times New Roman"/>
                <a:cs typeface="Times New Roman"/>
                <a:sym typeface="Times New Roman"/>
              </a:rPr>
              <a:t>f(n) = g(n) + h(n) </a:t>
            </a:r>
            <a:r>
              <a:rPr lang="en-US">
                <a:solidFill>
                  <a:schemeClr val="dk1"/>
                </a:solidFill>
                <a:latin typeface="Times New Roman"/>
                <a:ea typeface="Times New Roman"/>
                <a:cs typeface="Times New Roman"/>
                <a:sym typeface="Times New Roman"/>
              </a:rPr>
              <a:t>f is the total score for a plan - the lower it is, the sooner the plan gets explored.</a:t>
            </a:r>
            <a:endParaRPr>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0" algn="l" rtl="0">
              <a:spcBef>
                <a:spcPts val="0"/>
              </a:spcBef>
              <a:spcAft>
                <a:spcPts val="0"/>
              </a:spcAft>
              <a:buNone/>
            </a:pPr>
            <a:endParaRPr>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US" b="1">
                <a:solidFill>
                  <a:schemeClr val="dk1"/>
                </a:solidFill>
                <a:latin typeface="Times New Roman"/>
                <a:ea typeface="Times New Roman"/>
                <a:cs typeface="Times New Roman"/>
                <a:sym typeface="Times New Roman"/>
              </a:rPr>
              <a:t>g(n) - </a:t>
            </a:r>
            <a:r>
              <a:rPr lang="en-US">
                <a:solidFill>
                  <a:srgbClr val="1A1A2E"/>
                </a:solidFill>
                <a:latin typeface="Times New Roman"/>
                <a:ea typeface="Times New Roman"/>
                <a:cs typeface="Times New Roman"/>
                <a:sym typeface="Times New Roman"/>
              </a:rPr>
              <a:t>The real cost paid so far: finishing time so far + driving time so far. This isn't a guess - it's the paper's key idea (earlier work only counted finishing time).</a:t>
            </a:r>
            <a:endParaRPr/>
          </a:p>
          <a:p>
            <a:pPr marL="342900" lvl="0" indent="-228600" algn="l" rtl="0">
              <a:spcBef>
                <a:spcPts val="1000"/>
              </a:spcBef>
              <a:spcAft>
                <a:spcPts val="0"/>
              </a:spcAft>
              <a:buSzPts val="1800"/>
              <a:buNone/>
            </a:pPr>
            <a:endParaRPr>
              <a:latin typeface="Times New Roman"/>
              <a:ea typeface="Times New Roman"/>
              <a:cs typeface="Times New Roman"/>
              <a:sym typeface="Times New Roman"/>
            </a:endParaRPr>
          </a:p>
          <a:p>
            <a:pPr marL="457200" lvl="0" indent="-342900" algn="l" rtl="0">
              <a:spcBef>
                <a:spcPts val="1000"/>
              </a:spcBef>
              <a:spcAft>
                <a:spcPts val="0"/>
              </a:spcAft>
              <a:buClr>
                <a:schemeClr val="dk1"/>
              </a:buClr>
              <a:buSzPts val="1800"/>
              <a:buFont typeface="Times New Roman"/>
              <a:buChar char="❖"/>
            </a:pPr>
            <a:r>
              <a:rPr lang="en-US" b="1">
                <a:solidFill>
                  <a:schemeClr val="dk1"/>
                </a:solidFill>
                <a:latin typeface="Times New Roman"/>
                <a:ea typeface="Times New Roman"/>
                <a:cs typeface="Times New Roman"/>
                <a:sym typeface="Times New Roman"/>
              </a:rPr>
              <a:t>h(n) - </a:t>
            </a:r>
            <a:r>
              <a:rPr lang="en-US">
                <a:solidFill>
                  <a:srgbClr val="1A1A2E"/>
                </a:solidFill>
                <a:latin typeface="Times New Roman"/>
                <a:ea typeface="Times New Roman"/>
                <a:cs typeface="Times New Roman"/>
                <a:sym typeface="Times New Roman"/>
              </a:rPr>
              <a:t>A guess at what's left: the fastest possible remaining time, assuming a completely empty, traffic-free taxiway. Worked out ahead of time using Dijkstra's algorithm, starting at the goal and working backward.</a:t>
            </a:r>
            <a:endParaRPr>
              <a:latin typeface="Times New Roman"/>
              <a:ea typeface="Times New Roman"/>
              <a:cs typeface="Times New Roman"/>
              <a:sym typeface="Times New Roman"/>
            </a:endParaRPr>
          </a:p>
          <a:p>
            <a:pPr marL="342900" lvl="0" indent="-228600" algn="l" rtl="0">
              <a:spcBef>
                <a:spcPts val="1000"/>
              </a:spcBef>
              <a:spcAft>
                <a:spcPts val="0"/>
              </a:spcAft>
              <a:buSzPts val="1800"/>
              <a:buNone/>
            </a:pPr>
            <a:endParaRPr>
              <a:solidFill>
                <a:schemeClr val="dk1"/>
              </a:solidFill>
              <a:latin typeface="Times New Roman"/>
              <a:ea typeface="Times New Roman"/>
              <a:cs typeface="Times New Roman"/>
              <a:sym typeface="Times New Roman"/>
            </a:endParaRPr>
          </a:p>
          <a:p>
            <a:pPr marL="457200" lvl="0" indent="-342900" algn="l" rtl="0">
              <a:spcBef>
                <a:spcPts val="1000"/>
              </a:spcBef>
              <a:spcAft>
                <a:spcPts val="0"/>
              </a:spcAft>
              <a:buClr>
                <a:schemeClr val="dk1"/>
              </a:buClr>
              <a:buSzPts val="1800"/>
              <a:buFont typeface="Times New Roman"/>
              <a:buChar char="❖"/>
            </a:pPr>
            <a:r>
              <a:rPr lang="en-US" b="1">
                <a:solidFill>
                  <a:schemeClr val="dk1"/>
                </a:solidFill>
                <a:latin typeface="Times New Roman"/>
                <a:ea typeface="Times New Roman"/>
                <a:cs typeface="Times New Roman"/>
                <a:sym typeface="Times New Roman"/>
              </a:rPr>
              <a:t>Why this guess is safe - </a:t>
            </a:r>
            <a:r>
              <a:rPr lang="en-US">
                <a:solidFill>
                  <a:srgbClr val="1A1A2E"/>
                </a:solidFill>
                <a:latin typeface="Times New Roman"/>
                <a:ea typeface="Times New Roman"/>
                <a:cs typeface="Times New Roman"/>
                <a:sym typeface="Times New Roman"/>
              </a:rPr>
              <a:t>This guess must never be too high. Since real traffic is never faster than an empty taxiway, the guess is always safe to use - and that's what guarantees the search finds the best possible route, not just a good one.</a:t>
            </a:r>
            <a:endParaRPr>
              <a:latin typeface="Times New Roman"/>
              <a:ea typeface="Times New Roman"/>
              <a:cs typeface="Times New Roman"/>
              <a:sym typeface="Times New Roman"/>
            </a:endParaRPr>
          </a:p>
          <a:p>
            <a:pPr marL="342900" lvl="0" indent="-228600" algn="l" rtl="0">
              <a:spcBef>
                <a:spcPts val="1000"/>
              </a:spcBef>
              <a:spcAft>
                <a:spcPts val="0"/>
              </a:spcAft>
              <a:buSzPts val="1800"/>
              <a:buNone/>
            </a:pP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8"/>
          <p:cNvSpPr txBox="1">
            <a:spLocks noGrp="1"/>
          </p:cNvSpPr>
          <p:nvPr>
            <p:ph type="title"/>
          </p:nvPr>
        </p:nvSpPr>
        <p:spPr>
          <a:xfrm>
            <a:off x="2592925" y="624110"/>
            <a:ext cx="8911687" cy="630532"/>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21295C"/>
              </a:buClr>
              <a:buSzPct val="100000"/>
              <a:buFont typeface="Times New Roman"/>
              <a:buNone/>
            </a:pPr>
            <a:r>
              <a:rPr lang="en-US" b="1">
                <a:solidFill>
                  <a:srgbClr val="21295C"/>
                </a:solidFill>
                <a:latin typeface="Times New Roman"/>
                <a:ea typeface="Times New Roman"/>
                <a:cs typeface="Times New Roman"/>
                <a:sym typeface="Times New Roman"/>
              </a:rPr>
              <a:t>How We Modeled the Airport: Zones as Nodes and Edges</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p:txBody>
      </p:sp>
      <p:pic>
        <p:nvPicPr>
          <p:cNvPr id="214" name="Google Shape;214;p8"/>
          <p:cNvPicPr preferRelativeResize="0">
            <a:picLocks noGrp="1"/>
          </p:cNvPicPr>
          <p:nvPr>
            <p:ph type="body" idx="1"/>
          </p:nvPr>
        </p:nvPicPr>
        <p:blipFill rotWithShape="1">
          <a:blip r:embed="rId3">
            <a:alphaModFix/>
          </a:blip>
          <a:srcRect/>
          <a:stretch/>
        </p:blipFill>
        <p:spPr>
          <a:xfrm>
            <a:off x="1976745" y="1265200"/>
            <a:ext cx="8942833" cy="4327599"/>
          </a:xfrm>
          <a:prstGeom prst="rect">
            <a:avLst/>
          </a:prstGeom>
          <a:noFill/>
          <a:ln>
            <a:noFill/>
          </a:ln>
        </p:spPr>
      </p:pic>
      <p:sp>
        <p:nvSpPr>
          <p:cNvPr id="215" name="Google Shape;215;p8"/>
          <p:cNvSpPr txBox="1"/>
          <p:nvPr/>
        </p:nvSpPr>
        <p:spPr>
          <a:xfrm>
            <a:off x="1976745" y="5783559"/>
            <a:ext cx="8524513"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chemeClr val="dk1"/>
                </a:solidFill>
                <a:latin typeface="Times New Roman"/>
                <a:ea typeface="Times New Roman"/>
                <a:cs typeface="Times New Roman"/>
                <a:sym typeface="Times New Roman"/>
              </a:rPr>
              <a:t>Figure 1: The toy airport network used for testing. Both taxiway segments </a:t>
            </a:r>
            <a:endParaRPr/>
          </a:p>
          <a:p>
            <a:pPr marL="0" marR="0" lvl="0" indent="0" algn="l" rtl="0">
              <a:spcBef>
                <a:spcPts val="0"/>
              </a:spcBef>
              <a:spcAft>
                <a:spcPts val="0"/>
              </a:spcAft>
              <a:buNone/>
            </a:pPr>
            <a:r>
              <a:rPr lang="en-US" sz="1800" i="1">
                <a:solidFill>
                  <a:schemeClr val="dk1"/>
                </a:solidFill>
                <a:latin typeface="Times New Roman"/>
                <a:ea typeface="Times New Roman"/>
                <a:cs typeface="Times New Roman"/>
                <a:sym typeface="Times New Roman"/>
              </a:rPr>
              <a:t>and junctions are treated as separate zones, each with its own time limit.</a:t>
            </a: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0"/>
          <p:cNvSpPr txBox="1">
            <a:spLocks noGrp="1"/>
          </p:cNvSpPr>
          <p:nvPr>
            <p:ph type="title"/>
          </p:nvPr>
        </p:nvSpPr>
        <p:spPr>
          <a:xfrm>
            <a:off x="2592925" y="624110"/>
            <a:ext cx="8911687" cy="68369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1295C"/>
              </a:buClr>
              <a:buSzPts val="3600"/>
              <a:buFont typeface="Cambria"/>
              <a:buNone/>
            </a:pPr>
            <a:r>
              <a:rPr lang="en-US" b="1">
                <a:solidFill>
                  <a:srgbClr val="21295C"/>
                </a:solidFill>
                <a:latin typeface="Cambria"/>
                <a:ea typeface="Cambria"/>
                <a:cs typeface="Cambria"/>
                <a:sym typeface="Cambria"/>
              </a:rPr>
              <a:t>Results: Delayed Pushback in Action</a:t>
            </a:r>
            <a:endParaRPr/>
          </a:p>
        </p:txBody>
      </p:sp>
      <p:graphicFrame>
        <p:nvGraphicFramePr>
          <p:cNvPr id="227" name="Google Shape;227;p10"/>
          <p:cNvGraphicFramePr/>
          <p:nvPr/>
        </p:nvGraphicFramePr>
        <p:xfrm>
          <a:off x="2589213" y="2133600"/>
          <a:ext cx="8915375" cy="1483400"/>
        </p:xfrm>
        <a:graphic>
          <a:graphicData uri="http://schemas.openxmlformats.org/drawingml/2006/table">
            <a:tbl>
              <a:tblPr firstRow="1" bandRow="1">
                <a:noFill/>
                <a:tableStyleId>{0DF7DFF3-7A15-44E8-8414-0A41859CD3CF}</a:tableStyleId>
              </a:tblPr>
              <a:tblGrid>
                <a:gridCol w="1783075">
                  <a:extLst>
                    <a:ext uri="{9D8B030D-6E8A-4147-A177-3AD203B41FA5}">
                      <a16:colId xmlns:a16="http://schemas.microsoft.com/office/drawing/2014/main" val="20000"/>
                    </a:ext>
                  </a:extLst>
                </a:gridCol>
                <a:gridCol w="1783075">
                  <a:extLst>
                    <a:ext uri="{9D8B030D-6E8A-4147-A177-3AD203B41FA5}">
                      <a16:colId xmlns:a16="http://schemas.microsoft.com/office/drawing/2014/main" val="20001"/>
                    </a:ext>
                  </a:extLst>
                </a:gridCol>
                <a:gridCol w="1783075">
                  <a:extLst>
                    <a:ext uri="{9D8B030D-6E8A-4147-A177-3AD203B41FA5}">
                      <a16:colId xmlns:a16="http://schemas.microsoft.com/office/drawing/2014/main" val="20002"/>
                    </a:ext>
                  </a:extLst>
                </a:gridCol>
                <a:gridCol w="1783075">
                  <a:extLst>
                    <a:ext uri="{9D8B030D-6E8A-4147-A177-3AD203B41FA5}">
                      <a16:colId xmlns:a16="http://schemas.microsoft.com/office/drawing/2014/main" val="20003"/>
                    </a:ext>
                  </a:extLst>
                </a:gridCol>
                <a:gridCol w="1783075">
                  <a:extLst>
                    <a:ext uri="{9D8B030D-6E8A-4147-A177-3AD203B41FA5}">
                      <a16:colId xmlns:a16="http://schemas.microsoft.com/office/drawing/2014/main" val="20004"/>
                    </a:ext>
                  </a:extLst>
                </a:gridCol>
              </a:tblGrid>
              <a:tr h="370850">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Flight</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Ready</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Pushback</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Completion</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FFFFFF"/>
                        </a:buClr>
                        <a:buSzPts val="1400"/>
                        <a:buFont typeface="Calibri"/>
                        <a:buNone/>
                      </a:pPr>
                      <a:r>
                        <a:rPr lang="en-US" sz="1400" b="1" u="none" strike="noStrike" cap="none">
                          <a:solidFill>
                            <a:srgbClr val="FFFFFF"/>
                          </a:solidFill>
                          <a:latin typeface="Calibri"/>
                          <a:ea typeface="Calibri"/>
                          <a:cs typeface="Calibri"/>
                          <a:sym typeface="Calibri"/>
                        </a:rPr>
                        <a:t>Taxi Time</a:t>
                      </a:r>
                      <a:endParaRPr sz="1400" u="none" strike="noStrike" cap="none">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Clr>
                          <a:srgbClr val="1A1A2E"/>
                        </a:buClr>
                        <a:buSzPts val="1400"/>
                        <a:buFont typeface="Calibri"/>
                        <a:buNone/>
                      </a:pPr>
                      <a:r>
                        <a:rPr lang="en-US" sz="1400" u="none" strike="noStrike" cap="none" dirty="0">
                          <a:solidFill>
                            <a:srgbClr val="1A1A2E"/>
                          </a:solidFill>
                          <a:latin typeface="Calibri"/>
                          <a:ea typeface="Calibri"/>
                          <a:cs typeface="Calibri"/>
                          <a:sym typeface="Calibri"/>
                        </a:rPr>
                        <a:t>Flight_101</a:t>
                      </a:r>
                      <a:endParaRPr sz="1400" u="none" strike="noStrike" cap="none" dirty="0">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0 s</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0 s</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60 s</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60 s</a:t>
                      </a:r>
                      <a:endParaRPr sz="1400" u="none" strike="noStrike" cap="none">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Flight_202</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5 s</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dirty="0">
                          <a:solidFill>
                            <a:srgbClr val="1A1A2E"/>
                          </a:solidFill>
                          <a:latin typeface="Calibri"/>
                          <a:ea typeface="Calibri"/>
                          <a:cs typeface="Calibri"/>
                          <a:sym typeface="Calibri"/>
                        </a:rPr>
                        <a:t>15 s</a:t>
                      </a:r>
                      <a:endParaRPr sz="1400" u="none" strike="noStrike" cap="none" dirty="0">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85 s</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70 s</a:t>
                      </a:r>
                      <a:endParaRPr sz="1400" u="none" strike="noStrike" cap="none">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Flight_303</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8 s</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45 s</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a:solidFill>
                            <a:srgbClr val="1A1A2E"/>
                          </a:solidFill>
                          <a:latin typeface="Calibri"/>
                          <a:ea typeface="Calibri"/>
                          <a:cs typeface="Calibri"/>
                          <a:sym typeface="Calibri"/>
                        </a:rPr>
                        <a:t>105 s</a:t>
                      </a:r>
                      <a:endParaRPr sz="1400" u="none" strike="noStrike" cap="none">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Clr>
                          <a:srgbClr val="1A1A2E"/>
                        </a:buClr>
                        <a:buSzPts val="1400"/>
                        <a:buFont typeface="Calibri"/>
                        <a:buNone/>
                      </a:pPr>
                      <a:r>
                        <a:rPr lang="en-US" sz="1400" u="none" strike="noStrike" cap="none" dirty="0">
                          <a:solidFill>
                            <a:srgbClr val="1A1A2E"/>
                          </a:solidFill>
                          <a:latin typeface="Calibri"/>
                          <a:ea typeface="Calibri"/>
                          <a:cs typeface="Calibri"/>
                          <a:sym typeface="Calibri"/>
                        </a:rPr>
                        <a:t>60 s</a:t>
                      </a:r>
                      <a:endParaRPr sz="1400" u="none" strike="noStrike" cap="none" dirty="0">
                        <a:latin typeface="Calibri"/>
                        <a:ea typeface="Calibri"/>
                        <a:cs typeface="Calibri"/>
                        <a:sym typeface="Calibri"/>
                      </a:endParaRPr>
                    </a:p>
                  </a:txBody>
                  <a:tcPr marL="91450" marR="91450" marT="45725" marB="45725" anchor="ctr"/>
                </a:tc>
                <a:extLst>
                  <a:ext uri="{0D108BD9-81ED-4DB2-BD59-A6C34878D82A}">
                    <a16:rowId xmlns:a16="http://schemas.microsoft.com/office/drawing/2014/main" val="10003"/>
                  </a:ext>
                </a:extLst>
              </a:tr>
            </a:tbl>
          </a:graphicData>
        </a:graphic>
      </p:graphicFrame>
      <p:sp>
        <p:nvSpPr>
          <p:cNvPr id="228" name="Google Shape;228;p10"/>
          <p:cNvSpPr txBox="1"/>
          <p:nvPr/>
        </p:nvSpPr>
        <p:spPr>
          <a:xfrm>
            <a:off x="2604977" y="4114800"/>
            <a:ext cx="8864350"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dirty="0">
                <a:solidFill>
                  <a:schemeClr val="dk1"/>
                </a:solidFill>
                <a:latin typeface="Times New Roman"/>
                <a:ea typeface="Times New Roman"/>
                <a:cs typeface="Times New Roman"/>
                <a:sym typeface="Times New Roman"/>
              </a:rPr>
              <a:t>Flight_303 doesn't push back at T=8s - it waits at the gate until T=45s, </a:t>
            </a:r>
            <a:br>
              <a:rPr lang="en-US" sz="1600" i="1" dirty="0">
                <a:solidFill>
                  <a:schemeClr val="dk1"/>
                </a:solidFill>
                <a:latin typeface="Times New Roman"/>
                <a:ea typeface="Times New Roman"/>
                <a:cs typeface="Times New Roman"/>
                <a:sym typeface="Times New Roman"/>
              </a:rPr>
            </a:br>
            <a:r>
              <a:rPr lang="en-US" sz="1600" i="1" dirty="0">
                <a:solidFill>
                  <a:schemeClr val="dk1"/>
                </a:solidFill>
                <a:latin typeface="Times New Roman"/>
                <a:ea typeface="Times New Roman"/>
                <a:cs typeface="Times New Roman"/>
                <a:sym typeface="Times New Roman"/>
              </a:rPr>
              <a:t>then drives the whole route (60s) without a single stop: </a:t>
            </a:r>
            <a:br>
              <a:rPr lang="en-US" sz="1600" i="1" dirty="0">
                <a:solidFill>
                  <a:schemeClr val="dk1"/>
                </a:solidFill>
                <a:latin typeface="Times New Roman"/>
                <a:ea typeface="Times New Roman"/>
                <a:cs typeface="Times New Roman"/>
                <a:sym typeface="Times New Roman"/>
              </a:rPr>
            </a:br>
            <a:r>
              <a:rPr lang="en-US" sz="1600" i="1" dirty="0">
                <a:solidFill>
                  <a:schemeClr val="dk1"/>
                </a:solidFill>
                <a:latin typeface="Times New Roman"/>
                <a:ea typeface="Times New Roman"/>
                <a:cs typeface="Times New Roman"/>
                <a:sym typeface="Times New Roman"/>
              </a:rPr>
              <a:t>the system put all the necessary waiting into one hold at the gate instead of scattering it along the way.</a:t>
            </a:r>
            <a:endParaRPr sz="16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DDE6C3"/>
            </a:gs>
          </a:gsLst>
          <a:path path="circle">
            <a:fillToRect r="100000" b="100000"/>
          </a:path>
          <a:tileRect l="-100000" t="-100000"/>
        </a:gradFill>
        <a:effectLst/>
      </p:bgPr>
    </p:bg>
    <p:spTree>
      <p:nvGrpSpPr>
        <p:cNvPr id="1" name="Shape 232"/>
        <p:cNvGrpSpPr/>
        <p:nvPr/>
      </p:nvGrpSpPr>
      <p:grpSpPr>
        <a:xfrm>
          <a:off x="0" y="0"/>
          <a:ext cx="0" cy="0"/>
          <a:chOff x="0" y="0"/>
          <a:chExt cx="0" cy="0"/>
        </a:xfrm>
      </p:grpSpPr>
      <p:pic>
        <p:nvPicPr>
          <p:cNvPr id="233" name="Google Shape;233;p11"/>
          <p:cNvPicPr preferRelativeResize="0"/>
          <p:nvPr/>
        </p:nvPicPr>
        <p:blipFill rotWithShape="1">
          <a:blip r:embed="rId3">
            <a:alphaModFix/>
          </a:blip>
          <a:srcRect t="7485"/>
          <a:stretch/>
        </p:blipFill>
        <p:spPr>
          <a:xfrm>
            <a:off x="1893233" y="1072950"/>
            <a:ext cx="7931252" cy="4219118"/>
          </a:xfrm>
          <a:prstGeom prst="rect">
            <a:avLst/>
          </a:prstGeom>
          <a:noFill/>
          <a:ln>
            <a:noFill/>
          </a:ln>
        </p:spPr>
      </p:pic>
      <p:sp>
        <p:nvSpPr>
          <p:cNvPr id="234" name="Google Shape;234;p11"/>
          <p:cNvSpPr txBox="1"/>
          <p:nvPr/>
        </p:nvSpPr>
        <p:spPr>
          <a:xfrm>
            <a:off x="1744377" y="351539"/>
            <a:ext cx="9621828" cy="59415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21295C"/>
              </a:buClr>
              <a:buSzPts val="3600"/>
              <a:buFont typeface="Cambria"/>
              <a:buNone/>
            </a:pPr>
            <a:r>
              <a:rPr lang="en-US" sz="3600" b="1">
                <a:solidFill>
                  <a:srgbClr val="21295C"/>
                </a:solidFill>
                <a:latin typeface="Cambria"/>
                <a:ea typeface="Cambria"/>
                <a:cs typeface="Cambria"/>
                <a:sym typeface="Cambria"/>
              </a:rPr>
              <a:t>Waiting Absorbed at the Gate, Not Mid-Route</a:t>
            </a:r>
            <a:endParaRPr sz="3600">
              <a:solidFill>
                <a:srgbClr val="262626"/>
              </a:solidFill>
              <a:latin typeface="Century Gothic"/>
              <a:ea typeface="Century Gothic"/>
              <a:cs typeface="Century Gothic"/>
              <a:sym typeface="Century Gothic"/>
            </a:endParaRPr>
          </a:p>
        </p:txBody>
      </p:sp>
      <p:sp>
        <p:nvSpPr>
          <p:cNvPr id="235" name="Google Shape;235;p11"/>
          <p:cNvSpPr txBox="1"/>
          <p:nvPr/>
        </p:nvSpPr>
        <p:spPr>
          <a:xfrm>
            <a:off x="1893233" y="5563054"/>
            <a:ext cx="756694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chemeClr val="dk1"/>
                </a:solidFill>
                <a:latin typeface="Times New Roman"/>
                <a:ea typeface="Times New Roman"/>
                <a:cs typeface="Times New Roman"/>
                <a:sym typeface="Times New Roman"/>
              </a:rPr>
              <a:t>Figure 2: Almost all the necessary waiting happens at the gate, with engines off,</a:t>
            </a:r>
            <a:endParaRPr/>
          </a:p>
          <a:p>
            <a:pPr marL="0" marR="0" lvl="0" indent="0" algn="l" rtl="0">
              <a:spcBef>
                <a:spcPts val="0"/>
              </a:spcBef>
              <a:spcAft>
                <a:spcPts val="0"/>
              </a:spcAft>
              <a:buNone/>
            </a:pPr>
            <a:r>
              <a:rPr lang="en-US" sz="1800" i="1">
                <a:solidFill>
                  <a:schemeClr val="dk1"/>
                </a:solidFill>
                <a:latin typeface="Times New Roman"/>
                <a:ea typeface="Times New Roman"/>
                <a:cs typeface="Times New Roman"/>
                <a:sym typeface="Times New Roman"/>
              </a:rPr>
              <a:t> instead of on the taxiway with engines on, for every plane that needed to wait.</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2"/>
          <p:cNvSpPr txBox="1">
            <a:spLocks noGrp="1"/>
          </p:cNvSpPr>
          <p:nvPr>
            <p:ph type="title"/>
          </p:nvPr>
        </p:nvSpPr>
        <p:spPr>
          <a:xfrm>
            <a:off x="1986314" y="399677"/>
            <a:ext cx="8911687" cy="694327"/>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1295C"/>
              </a:buClr>
              <a:buSzPts val="3600"/>
              <a:buFont typeface="Times New Roman"/>
              <a:buNone/>
            </a:pPr>
            <a:r>
              <a:rPr lang="en-US" b="1">
                <a:solidFill>
                  <a:srgbClr val="21295C"/>
                </a:solidFill>
                <a:latin typeface="Times New Roman"/>
                <a:ea typeface="Times New Roman"/>
                <a:cs typeface="Times New Roman"/>
                <a:sym typeface="Times New Roman"/>
              </a:rPr>
              <a:t>The Committed Conflict-Free Schedule</a:t>
            </a:r>
            <a:endParaRPr>
              <a:latin typeface="Times New Roman"/>
              <a:ea typeface="Times New Roman"/>
              <a:cs typeface="Times New Roman"/>
              <a:sym typeface="Times New Roman"/>
            </a:endParaRPr>
          </a:p>
        </p:txBody>
      </p:sp>
      <p:pic>
        <p:nvPicPr>
          <p:cNvPr id="241" name="Google Shape;241;p12"/>
          <p:cNvPicPr preferRelativeResize="0">
            <a:picLocks noGrp="1"/>
          </p:cNvPicPr>
          <p:nvPr>
            <p:ph type="body" idx="1"/>
          </p:nvPr>
        </p:nvPicPr>
        <p:blipFill rotWithShape="1">
          <a:blip r:embed="rId3">
            <a:alphaModFix/>
          </a:blip>
          <a:srcRect t="6805"/>
          <a:stretch/>
        </p:blipFill>
        <p:spPr>
          <a:xfrm>
            <a:off x="1986314" y="1094004"/>
            <a:ext cx="7881391" cy="3519509"/>
          </a:xfrm>
          <a:prstGeom prst="rect">
            <a:avLst/>
          </a:prstGeom>
          <a:noFill/>
          <a:ln>
            <a:noFill/>
          </a:ln>
        </p:spPr>
      </p:pic>
      <p:sp>
        <p:nvSpPr>
          <p:cNvPr id="242" name="Google Shape;242;p12"/>
          <p:cNvSpPr txBox="1"/>
          <p:nvPr/>
        </p:nvSpPr>
        <p:spPr>
          <a:xfrm>
            <a:off x="1986314" y="4752753"/>
            <a:ext cx="8642109"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i="1" dirty="0">
                <a:solidFill>
                  <a:schemeClr val="dk1"/>
                </a:solidFill>
                <a:latin typeface="Times New Roman"/>
                <a:ea typeface="Times New Roman"/>
                <a:cs typeface="Times New Roman"/>
                <a:sym typeface="Times New Roman"/>
              </a:rPr>
              <a:t>Figure 3: The final, locked-in time slots for every zone. No two </a:t>
            </a:r>
            <a:br>
              <a:rPr lang="en-US" sz="1600" i="1" dirty="0">
                <a:solidFill>
                  <a:schemeClr val="dk1"/>
                </a:solidFill>
                <a:latin typeface="Times New Roman"/>
                <a:ea typeface="Times New Roman"/>
                <a:cs typeface="Times New Roman"/>
                <a:sym typeface="Times New Roman"/>
              </a:rPr>
            </a:br>
            <a:r>
              <a:rPr lang="en-US" sz="1600" i="1" dirty="0">
                <a:solidFill>
                  <a:schemeClr val="dk1"/>
                </a:solidFill>
                <a:latin typeface="Times New Roman"/>
                <a:ea typeface="Times New Roman"/>
                <a:cs typeface="Times New Roman"/>
                <a:sym typeface="Times New Roman"/>
              </a:rPr>
              <a:t>different planes ever use the same zone at the same time, once you include the required safety gap.</a:t>
            </a:r>
            <a:endParaRPr sz="1200" dirty="0"/>
          </a:p>
          <a:p>
            <a:pPr marL="0" marR="0" lvl="0" indent="0" algn="l" rtl="0">
              <a:spcBef>
                <a:spcPts val="0"/>
              </a:spcBef>
              <a:spcAft>
                <a:spcPts val="0"/>
              </a:spcAft>
              <a:buNone/>
            </a:pP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Zero safety-gap violations anywhere.</a:t>
            </a: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 We independently double-checked every pair of locked-in time slots against the minimum safety gap. </a:t>
            </a:r>
            <a:br>
              <a:rPr lang="en-US" sz="1600" dirty="0">
                <a:solidFill>
                  <a:schemeClr val="dk1"/>
                </a:solidFill>
                <a:latin typeface="Times New Roman"/>
                <a:ea typeface="Times New Roman"/>
                <a:cs typeface="Times New Roman"/>
                <a:sym typeface="Times New Roman"/>
              </a:rPr>
            </a:br>
            <a:r>
              <a:rPr lang="en-US" sz="1600" dirty="0">
                <a:solidFill>
                  <a:schemeClr val="dk1"/>
                </a:solidFill>
                <a:latin typeface="Times New Roman"/>
                <a:ea typeface="Times New Roman"/>
                <a:cs typeface="Times New Roman"/>
                <a:sym typeface="Times New Roman"/>
              </a:rPr>
              <a:t>All three planes' routes pass everywhere.</a:t>
            </a:r>
            <a:endParaRPr sz="16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3"/>
          <p:cNvSpPr txBox="1">
            <a:spLocks noGrp="1"/>
          </p:cNvSpPr>
          <p:nvPr>
            <p:ph type="title"/>
          </p:nvPr>
        </p:nvSpPr>
        <p:spPr>
          <a:xfrm>
            <a:off x="2592925" y="624110"/>
            <a:ext cx="8911687" cy="86164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2060"/>
              </a:buClr>
              <a:buSzPts val="3600"/>
              <a:buFont typeface="Cambria"/>
              <a:buNone/>
            </a:pPr>
            <a:r>
              <a:rPr lang="en-US" b="1">
                <a:solidFill>
                  <a:srgbClr val="002060"/>
                </a:solidFill>
                <a:latin typeface="Cambria"/>
                <a:ea typeface="Cambria"/>
                <a:cs typeface="Cambria"/>
                <a:sym typeface="Cambria"/>
              </a:rPr>
              <a:t>Conclusion</a:t>
            </a:r>
            <a:endParaRPr>
              <a:solidFill>
                <a:srgbClr val="002060"/>
              </a:solidFill>
            </a:endParaRPr>
          </a:p>
        </p:txBody>
      </p:sp>
      <p:sp>
        <p:nvSpPr>
          <p:cNvPr id="248" name="Google Shape;248;p13"/>
          <p:cNvSpPr txBox="1">
            <a:spLocks noGrp="1"/>
          </p:cNvSpPr>
          <p:nvPr>
            <p:ph type="body" idx="1"/>
          </p:nvPr>
        </p:nvSpPr>
        <p:spPr>
          <a:xfrm>
            <a:off x="2589212" y="1828800"/>
            <a:ext cx="8915400" cy="4082422"/>
          </a:xfrm>
          <a:prstGeom prst="rect">
            <a:avLst/>
          </a:prstGeom>
          <a:noFill/>
          <a:ln>
            <a:noFill/>
          </a:ln>
        </p:spPr>
        <p:txBody>
          <a:bodyPr spcFirstLastPara="1" wrap="square" lIns="91425" tIns="45700" rIns="91425" bIns="45700" anchor="t" anchorCtr="0">
            <a:normAutofit/>
          </a:bodyPr>
          <a:lstStyle/>
          <a:p>
            <a:pPr marL="457200" lvl="0" indent="-342900" algn="l" rtl="0">
              <a:spcBef>
                <a:spcPts val="0"/>
              </a:spcBef>
              <a:spcAft>
                <a:spcPts val="0"/>
              </a:spcAft>
              <a:buClr>
                <a:srgbClr val="1A1A2E"/>
              </a:buClr>
              <a:buSzPts val="1800"/>
              <a:buFont typeface="Times New Roman"/>
              <a:buChar char="❖"/>
            </a:pPr>
            <a:r>
              <a:rPr lang="en-US">
                <a:latin typeface="Times New Roman"/>
                <a:ea typeface="Times New Roman"/>
                <a:cs typeface="Times New Roman"/>
                <a:sym typeface="Times New Roman"/>
              </a:rPr>
              <a:t>Rebuilt the paper's real contributions: the maximum-wait limit, the cost that also counts driving time, tracking a range of arrival times, and the step that decides where waiting should go</a:t>
            </a:r>
            <a:endParaRPr/>
          </a:p>
          <a:p>
            <a:pPr marL="457200" lvl="0" indent="0" algn="l" rtl="0">
              <a:spcBef>
                <a:spcPts val="0"/>
              </a:spcBef>
              <a:spcAft>
                <a:spcPts val="0"/>
              </a:spcAft>
              <a:buNone/>
            </a:pPr>
            <a:endParaRPr/>
          </a:p>
          <a:p>
            <a:pPr marL="457200" lvl="0" indent="-342900" algn="l" rtl="0">
              <a:spcBef>
                <a:spcPts val="0"/>
              </a:spcBef>
              <a:spcAft>
                <a:spcPts val="0"/>
              </a:spcAft>
              <a:buClr>
                <a:srgbClr val="1A1A2E"/>
              </a:buClr>
              <a:buSzPts val="1800"/>
              <a:buFont typeface="Times New Roman"/>
              <a:buChar char="❖"/>
            </a:pPr>
            <a:r>
              <a:rPr lang="en-US">
                <a:latin typeface="Times New Roman"/>
                <a:ea typeface="Times New Roman"/>
                <a:cs typeface="Times New Roman"/>
                <a:sym typeface="Times New Roman"/>
              </a:rPr>
              <a:t>Found and fixed two real bugs through hands-on testing, not just by reading the code</a:t>
            </a:r>
            <a:endParaRPr/>
          </a:p>
          <a:p>
            <a:pPr marL="457200" lvl="0" indent="0" algn="l" rtl="0">
              <a:spcBef>
                <a:spcPts val="0"/>
              </a:spcBef>
              <a:spcAft>
                <a:spcPts val="0"/>
              </a:spcAft>
              <a:buNone/>
            </a:pPr>
            <a:endParaRPr/>
          </a:p>
          <a:p>
            <a:pPr marL="457200" lvl="0" indent="-342900" algn="l" rtl="0">
              <a:spcBef>
                <a:spcPts val="0"/>
              </a:spcBef>
              <a:spcAft>
                <a:spcPts val="0"/>
              </a:spcAft>
              <a:buClr>
                <a:srgbClr val="1A1A2E"/>
              </a:buClr>
              <a:buSzPts val="1800"/>
              <a:buFont typeface="Times New Roman"/>
              <a:buChar char="❖"/>
            </a:pPr>
            <a:r>
              <a:rPr lang="en-US">
                <a:latin typeface="Times New Roman"/>
                <a:ea typeface="Times New Roman"/>
                <a:cs typeface="Times New Roman"/>
                <a:sym typeface="Times New Roman"/>
              </a:rPr>
              <a:t>The results directly show the paper's real-world payoff: no wasted distance (choosing the route) plus no wasted stopping and starting (deciding where to wait) = wait at the gate with engines off, then drive straight through</a:t>
            </a:r>
            <a:endParaRPr/>
          </a:p>
          <a:p>
            <a:pPr marL="457200" lvl="0" indent="0" algn="l" rtl="0">
              <a:spcBef>
                <a:spcPts val="0"/>
              </a:spcBef>
              <a:spcAft>
                <a:spcPts val="0"/>
              </a:spcAft>
              <a:buNone/>
            </a:pPr>
            <a:endParaRPr/>
          </a:p>
          <a:p>
            <a:pPr marL="457200" lvl="0" indent="-342900" algn="l" rtl="0">
              <a:spcBef>
                <a:spcPts val="0"/>
              </a:spcBef>
              <a:spcAft>
                <a:spcPts val="0"/>
              </a:spcAft>
              <a:buClr>
                <a:srgbClr val="1A1A2E"/>
              </a:buClr>
              <a:buSzPts val="1800"/>
              <a:buFont typeface="Times New Roman"/>
              <a:buChar char="❖"/>
            </a:pPr>
            <a:r>
              <a:rPr lang="en-US">
                <a:latin typeface="Times New Roman"/>
                <a:ea typeface="Times New Roman"/>
                <a:cs typeface="Times New Roman"/>
                <a:sym typeface="Times New Roman"/>
              </a:rPr>
              <a:t>The final system was independently checked and is fully conflict-free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4"/>
          <p:cNvSpPr txBox="1">
            <a:spLocks noGrp="1"/>
          </p:cNvSpPr>
          <p:nvPr>
            <p:ph type="title"/>
          </p:nvPr>
        </p:nvSpPr>
        <p:spPr>
          <a:xfrm>
            <a:off x="2592925" y="624110"/>
            <a:ext cx="8911687" cy="6624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21295C"/>
              </a:buClr>
              <a:buSzPts val="3600"/>
              <a:buFont typeface="Cambria"/>
              <a:buNone/>
            </a:pPr>
            <a:r>
              <a:rPr lang="en-US" b="1">
                <a:solidFill>
                  <a:srgbClr val="21295C"/>
                </a:solidFill>
                <a:latin typeface="Cambria"/>
                <a:ea typeface="Cambria"/>
                <a:cs typeface="Cambria"/>
                <a:sym typeface="Cambria"/>
              </a:rPr>
              <a:t>References</a:t>
            </a:r>
            <a:endParaRPr/>
          </a:p>
        </p:txBody>
      </p:sp>
      <p:sp>
        <p:nvSpPr>
          <p:cNvPr id="254" name="Google Shape;254;p14"/>
          <p:cNvSpPr txBox="1">
            <a:spLocks noGrp="1"/>
          </p:cNvSpPr>
          <p:nvPr>
            <p:ph type="body" idx="1"/>
          </p:nvPr>
        </p:nvSpPr>
        <p:spPr>
          <a:xfrm>
            <a:off x="2589200" y="1605526"/>
            <a:ext cx="8915400" cy="4581900"/>
          </a:xfrm>
          <a:prstGeom prst="rect">
            <a:avLst/>
          </a:prstGeom>
          <a:noFill/>
          <a:ln>
            <a:noFill/>
          </a:ln>
        </p:spPr>
        <p:txBody>
          <a:bodyPr spcFirstLastPara="1" wrap="square" lIns="91425" tIns="45700" rIns="91425" bIns="45700" anchor="t" anchorCtr="0">
            <a:noAutofit/>
          </a:bodyPr>
          <a:lstStyle/>
          <a:p>
            <a:pPr marL="457200" lvl="0" indent="-340678" algn="l" rtl="0">
              <a:lnSpc>
                <a:spcPct val="90000"/>
              </a:lnSpc>
              <a:spcBef>
                <a:spcPts val="0"/>
              </a:spcBef>
              <a:spcAft>
                <a:spcPts val="0"/>
              </a:spcAft>
              <a:buClr>
                <a:srgbClr val="1A1A2E"/>
              </a:buClr>
              <a:buSzPts val="1765"/>
              <a:buFont typeface="Times New Roman"/>
              <a:buAutoNum type="arabicPeriod"/>
            </a:pPr>
            <a:r>
              <a:rPr lang="en-US" sz="1765">
                <a:latin typeface="Times New Roman"/>
                <a:ea typeface="Times New Roman"/>
                <a:cs typeface="Times New Roman"/>
                <a:sym typeface="Times New Roman"/>
              </a:rPr>
              <a:t>Chen, Y., Quan, L., &amp; Yu, J. Z. (2024). Aircraft taxi path optimization considering environmental impacts based on a bilevel spatial–temporal optimization model. </a:t>
            </a:r>
            <a:r>
              <a:rPr lang="en-US" sz="1765" i="1">
                <a:latin typeface="Times New Roman"/>
                <a:ea typeface="Times New Roman"/>
                <a:cs typeface="Times New Roman"/>
                <a:sym typeface="Times New Roman"/>
              </a:rPr>
              <a:t>Energies</a:t>
            </a:r>
            <a:r>
              <a:rPr lang="en-US" sz="1765">
                <a:latin typeface="Times New Roman"/>
                <a:ea typeface="Times New Roman"/>
                <a:cs typeface="Times New Roman"/>
                <a:sym typeface="Times New Roman"/>
              </a:rPr>
              <a:t>, </a:t>
            </a:r>
            <a:r>
              <a:rPr lang="en-US" sz="1765" i="1">
                <a:latin typeface="Times New Roman"/>
                <a:ea typeface="Times New Roman"/>
                <a:cs typeface="Times New Roman"/>
                <a:sym typeface="Times New Roman"/>
              </a:rPr>
              <a:t>17</a:t>
            </a:r>
            <a:r>
              <a:rPr lang="en-US" sz="1765">
                <a:latin typeface="Times New Roman"/>
                <a:ea typeface="Times New Roman"/>
                <a:cs typeface="Times New Roman"/>
                <a:sym typeface="Times New Roman"/>
              </a:rPr>
              <a:t>(11), Article 2692. </a:t>
            </a:r>
            <a:r>
              <a:rPr lang="en-US" sz="1765" u="sng">
                <a:solidFill>
                  <a:schemeClr val="hlink"/>
                </a:solidFill>
                <a:latin typeface="Times New Roman"/>
                <a:ea typeface="Times New Roman"/>
                <a:cs typeface="Times New Roman"/>
                <a:sym typeface="Times New Roman"/>
                <a:hlinkClick r:id="rId3"/>
              </a:rPr>
              <a:t>https://doi.org/10.3390/en17112692</a:t>
            </a:r>
            <a:r>
              <a:rPr lang="en-US" sz="1765">
                <a:latin typeface="Times New Roman"/>
                <a:ea typeface="Times New Roman"/>
                <a:cs typeface="Times New Roman"/>
                <a:sym typeface="Times New Roman"/>
              </a:rPr>
              <a:t> </a:t>
            </a:r>
            <a:endParaRPr sz="1765">
              <a:latin typeface="Times New Roman"/>
              <a:ea typeface="Times New Roman"/>
              <a:cs typeface="Times New Roman"/>
              <a:sym typeface="Times New Roman"/>
            </a:endParaRPr>
          </a:p>
          <a:p>
            <a:pPr marL="457200" lvl="0" indent="0" algn="l" rtl="0">
              <a:lnSpc>
                <a:spcPct val="90000"/>
              </a:lnSpc>
              <a:spcBef>
                <a:spcPts val="0"/>
              </a:spcBef>
              <a:spcAft>
                <a:spcPts val="0"/>
              </a:spcAft>
              <a:buSzPts val="1018"/>
              <a:buNone/>
            </a:pPr>
            <a:endParaRPr sz="1765">
              <a:latin typeface="Times New Roman"/>
              <a:ea typeface="Times New Roman"/>
              <a:cs typeface="Times New Roman"/>
              <a:sym typeface="Times New Roman"/>
            </a:endParaRPr>
          </a:p>
          <a:p>
            <a:pPr marL="457200" lvl="0" indent="-340678" algn="l" rtl="0">
              <a:lnSpc>
                <a:spcPct val="90000"/>
              </a:lnSpc>
              <a:spcBef>
                <a:spcPts val="0"/>
              </a:spcBef>
              <a:spcAft>
                <a:spcPts val="0"/>
              </a:spcAft>
              <a:buClr>
                <a:srgbClr val="1A1A2E"/>
              </a:buClr>
              <a:buSzPts val="1765"/>
              <a:buFont typeface="Times New Roman"/>
              <a:buAutoNum type="arabicPeriod"/>
            </a:pPr>
            <a:r>
              <a:rPr lang="en-US" sz="1765">
                <a:latin typeface="Times New Roman"/>
                <a:ea typeface="Times New Roman"/>
                <a:cs typeface="Times New Roman"/>
                <a:sym typeface="Times New Roman"/>
              </a:rPr>
              <a:t>Tian, W., Yang, M., Zhou, X., Yin, J., &amp; Shi, X. (2025). Airport field path optimization method based on conflict hotspot avoidance mechanism. </a:t>
            </a:r>
            <a:r>
              <a:rPr lang="en-US" sz="1765" i="1">
                <a:latin typeface="Times New Roman"/>
                <a:ea typeface="Times New Roman"/>
                <a:cs typeface="Times New Roman"/>
                <a:sym typeface="Times New Roman"/>
              </a:rPr>
              <a:t>Applied Sciences</a:t>
            </a:r>
            <a:r>
              <a:rPr lang="en-US" sz="1765">
                <a:latin typeface="Times New Roman"/>
                <a:ea typeface="Times New Roman"/>
                <a:cs typeface="Times New Roman"/>
                <a:sym typeface="Times New Roman"/>
              </a:rPr>
              <a:t>, </a:t>
            </a:r>
            <a:r>
              <a:rPr lang="en-US" sz="1765" i="1">
                <a:latin typeface="Times New Roman"/>
                <a:ea typeface="Times New Roman"/>
                <a:cs typeface="Times New Roman"/>
                <a:sym typeface="Times New Roman"/>
              </a:rPr>
              <a:t>15</a:t>
            </a:r>
            <a:r>
              <a:rPr lang="en-US" sz="1765">
                <a:latin typeface="Times New Roman"/>
                <a:ea typeface="Times New Roman"/>
                <a:cs typeface="Times New Roman"/>
                <a:sym typeface="Times New Roman"/>
              </a:rPr>
              <a:t>(15), Article 8204. </a:t>
            </a:r>
            <a:r>
              <a:rPr lang="en-US" sz="1765" u="sng">
                <a:solidFill>
                  <a:schemeClr val="hlink"/>
                </a:solidFill>
                <a:latin typeface="Times New Roman"/>
                <a:ea typeface="Times New Roman"/>
                <a:cs typeface="Times New Roman"/>
                <a:sym typeface="Times New Roman"/>
                <a:hlinkClick r:id="rId4"/>
              </a:rPr>
              <a:t>https://doi.org/10.3390/app15158204</a:t>
            </a:r>
            <a:r>
              <a:rPr lang="en-US" sz="1765">
                <a:latin typeface="Times New Roman"/>
                <a:ea typeface="Times New Roman"/>
                <a:cs typeface="Times New Roman"/>
                <a:sym typeface="Times New Roman"/>
              </a:rPr>
              <a:t> </a:t>
            </a:r>
            <a:endParaRPr sz="1765">
              <a:latin typeface="Times New Roman"/>
              <a:ea typeface="Times New Roman"/>
              <a:cs typeface="Times New Roman"/>
              <a:sym typeface="Times New Roman"/>
            </a:endParaRPr>
          </a:p>
          <a:p>
            <a:pPr marL="457200" lvl="0" indent="0" algn="l" rtl="0">
              <a:lnSpc>
                <a:spcPct val="90000"/>
              </a:lnSpc>
              <a:spcBef>
                <a:spcPts val="0"/>
              </a:spcBef>
              <a:spcAft>
                <a:spcPts val="0"/>
              </a:spcAft>
              <a:buSzPts val="1018"/>
              <a:buNone/>
            </a:pPr>
            <a:endParaRPr sz="1765">
              <a:latin typeface="Times New Roman"/>
              <a:ea typeface="Times New Roman"/>
              <a:cs typeface="Times New Roman"/>
              <a:sym typeface="Times New Roman"/>
            </a:endParaRPr>
          </a:p>
          <a:p>
            <a:pPr marL="457200" lvl="0" indent="-340678" algn="l" rtl="0">
              <a:lnSpc>
                <a:spcPct val="90000"/>
              </a:lnSpc>
              <a:spcBef>
                <a:spcPts val="0"/>
              </a:spcBef>
              <a:spcAft>
                <a:spcPts val="0"/>
              </a:spcAft>
              <a:buClr>
                <a:srgbClr val="1A1A2E"/>
              </a:buClr>
              <a:buSzPts val="1765"/>
              <a:buFont typeface="Times New Roman"/>
              <a:buAutoNum type="arabicPeriod"/>
            </a:pPr>
            <a:r>
              <a:rPr lang="en-US" sz="1765">
                <a:latin typeface="Times New Roman"/>
                <a:ea typeface="Times New Roman"/>
                <a:cs typeface="Times New Roman"/>
                <a:sym typeface="Times New Roman"/>
              </a:rPr>
              <a:t>Von der Burg, M., Kamphof, J., Soomers, J., &amp; Sharpanskykh, A. (2024). </a:t>
            </a:r>
            <a:r>
              <a:rPr lang="en-US" sz="1765" i="1">
                <a:latin typeface="Times New Roman"/>
                <a:ea typeface="Times New Roman"/>
                <a:cs typeface="Times New Roman"/>
                <a:sym typeface="Times New Roman"/>
              </a:rPr>
              <a:t>Towards autonomous airport surface movement operations using hierarchical multi-agent planning</a:t>
            </a:r>
            <a:r>
              <a:rPr lang="en-US" sz="1765">
                <a:latin typeface="Times New Roman"/>
                <a:ea typeface="Times New Roman"/>
                <a:cs typeface="Times New Roman"/>
                <a:sym typeface="Times New Roman"/>
              </a:rPr>
              <a:t>. SSRN Electronic Journal. </a:t>
            </a:r>
            <a:r>
              <a:rPr lang="en-US" sz="1765" u="sng">
                <a:solidFill>
                  <a:schemeClr val="hlink"/>
                </a:solidFill>
                <a:latin typeface="Times New Roman"/>
                <a:ea typeface="Times New Roman"/>
                <a:cs typeface="Times New Roman"/>
                <a:sym typeface="Times New Roman"/>
                <a:hlinkClick r:id="rId5"/>
              </a:rPr>
              <a:t>https://doi.org/10.2139/ssrn.4916874</a:t>
            </a:r>
            <a:r>
              <a:rPr lang="en-US" sz="1765">
                <a:latin typeface="Times New Roman"/>
                <a:ea typeface="Times New Roman"/>
                <a:cs typeface="Times New Roman"/>
                <a:sym typeface="Times New Roman"/>
              </a:rPr>
              <a:t> </a:t>
            </a:r>
            <a:endParaRPr sz="1765">
              <a:latin typeface="Times New Roman"/>
              <a:ea typeface="Times New Roman"/>
              <a:cs typeface="Times New Roman"/>
              <a:sym typeface="Times New Roman"/>
            </a:endParaRPr>
          </a:p>
          <a:p>
            <a:pPr marL="457200" lvl="0" indent="0" algn="l" rtl="0">
              <a:lnSpc>
                <a:spcPct val="90000"/>
              </a:lnSpc>
              <a:spcBef>
                <a:spcPts val="0"/>
              </a:spcBef>
              <a:spcAft>
                <a:spcPts val="0"/>
              </a:spcAft>
              <a:buSzPts val="1018"/>
              <a:buNone/>
            </a:pPr>
            <a:endParaRPr sz="1765">
              <a:latin typeface="Times New Roman"/>
              <a:ea typeface="Times New Roman"/>
              <a:cs typeface="Times New Roman"/>
              <a:sym typeface="Times New Roman"/>
            </a:endParaRPr>
          </a:p>
          <a:p>
            <a:pPr marL="457200" lvl="0" indent="-340678" algn="l" rtl="0">
              <a:lnSpc>
                <a:spcPct val="90000"/>
              </a:lnSpc>
              <a:spcBef>
                <a:spcPts val="0"/>
              </a:spcBef>
              <a:spcAft>
                <a:spcPts val="0"/>
              </a:spcAft>
              <a:buClr>
                <a:srgbClr val="1A1A2E"/>
              </a:buClr>
              <a:buSzPts val="1765"/>
              <a:buFont typeface="Times New Roman"/>
              <a:buAutoNum type="arabicPeriod"/>
            </a:pPr>
            <a:r>
              <a:rPr lang="en-US" sz="1765">
                <a:latin typeface="Times New Roman"/>
                <a:ea typeface="Times New Roman"/>
                <a:cs typeface="Times New Roman"/>
                <a:sym typeface="Times New Roman"/>
              </a:rPr>
              <a:t>Zhang, T., Ding, M., &amp; Zuo, H. (2018). Improved approach for time-based taxi trajectory planning towards conflict-free, efficient and fluent airport ground movement. </a:t>
            </a:r>
            <a:r>
              <a:rPr lang="en-US" sz="1765" i="1">
                <a:latin typeface="Times New Roman"/>
                <a:ea typeface="Times New Roman"/>
                <a:cs typeface="Times New Roman"/>
                <a:sym typeface="Times New Roman"/>
              </a:rPr>
              <a:t>IET Intelligent Transport Systems</a:t>
            </a:r>
            <a:r>
              <a:rPr lang="en-US" sz="1765">
                <a:latin typeface="Times New Roman"/>
                <a:ea typeface="Times New Roman"/>
                <a:cs typeface="Times New Roman"/>
                <a:sym typeface="Times New Roman"/>
              </a:rPr>
              <a:t>, </a:t>
            </a:r>
            <a:r>
              <a:rPr lang="en-US" sz="1765" i="1">
                <a:latin typeface="Times New Roman"/>
                <a:ea typeface="Times New Roman"/>
                <a:cs typeface="Times New Roman"/>
                <a:sym typeface="Times New Roman"/>
              </a:rPr>
              <a:t>12</a:t>
            </a:r>
            <a:r>
              <a:rPr lang="en-US" sz="1765">
                <a:latin typeface="Times New Roman"/>
                <a:ea typeface="Times New Roman"/>
                <a:cs typeface="Times New Roman"/>
                <a:sym typeface="Times New Roman"/>
              </a:rPr>
              <a:t>(10), 1360–1368. </a:t>
            </a:r>
            <a:r>
              <a:rPr lang="en-US" sz="1765" u="sng">
                <a:solidFill>
                  <a:schemeClr val="hlink"/>
                </a:solidFill>
                <a:latin typeface="Times New Roman"/>
                <a:ea typeface="Times New Roman"/>
                <a:cs typeface="Times New Roman"/>
                <a:sym typeface="Times New Roman"/>
                <a:hlinkClick r:id="rId6"/>
              </a:rPr>
              <a:t>https://doi.org/10.1049/iet-its.2018.5193</a:t>
            </a:r>
            <a:endParaRPr sz="1765">
              <a:latin typeface="Times New Roman"/>
              <a:ea typeface="Times New Roman"/>
              <a:cs typeface="Times New Roman"/>
              <a:sym typeface="Times New Roman"/>
            </a:endParaRPr>
          </a:p>
          <a:p>
            <a:pPr marL="457200" lvl="0" indent="0" algn="l" rtl="0">
              <a:lnSpc>
                <a:spcPct val="90000"/>
              </a:lnSpc>
              <a:spcBef>
                <a:spcPts val="0"/>
              </a:spcBef>
              <a:spcAft>
                <a:spcPts val="0"/>
              </a:spcAft>
              <a:buSzPts val="1018"/>
              <a:buNone/>
            </a:pPr>
            <a:endParaRPr sz="1765">
              <a:latin typeface="Times New Roman"/>
              <a:ea typeface="Times New Roman"/>
              <a:cs typeface="Times New Roman"/>
              <a:sym typeface="Times New Roman"/>
            </a:endParaRPr>
          </a:p>
          <a:p>
            <a:pPr marL="457200" lvl="0" indent="-340678" algn="l" rtl="0">
              <a:lnSpc>
                <a:spcPct val="90000"/>
              </a:lnSpc>
              <a:spcBef>
                <a:spcPts val="0"/>
              </a:spcBef>
              <a:spcAft>
                <a:spcPts val="0"/>
              </a:spcAft>
              <a:buClr>
                <a:srgbClr val="1A1A2E"/>
              </a:buClr>
              <a:buSzPts val="1765"/>
              <a:buFont typeface="Times New Roman"/>
              <a:buAutoNum type="arabicPeriod"/>
            </a:pPr>
            <a:r>
              <a:rPr lang="en-US" sz="1765">
                <a:latin typeface="Times New Roman"/>
                <a:ea typeface="Times New Roman"/>
                <a:cs typeface="Times New Roman"/>
                <a:sym typeface="Times New Roman"/>
              </a:rPr>
              <a:t>Ravizza, S., Atkin, J. A., &amp; Burke, E. K. (2014). A more realistic approach for airport ground movement optimisation with stand holding. </a:t>
            </a:r>
            <a:r>
              <a:rPr lang="en-US" sz="1765" i="1">
                <a:latin typeface="Times New Roman"/>
                <a:ea typeface="Times New Roman"/>
                <a:cs typeface="Times New Roman"/>
                <a:sym typeface="Times New Roman"/>
              </a:rPr>
              <a:t>Journal of Scheduling</a:t>
            </a:r>
            <a:r>
              <a:rPr lang="en-US" sz="1765">
                <a:latin typeface="Times New Roman"/>
                <a:ea typeface="Times New Roman"/>
                <a:cs typeface="Times New Roman"/>
                <a:sym typeface="Times New Roman"/>
              </a:rPr>
              <a:t>, </a:t>
            </a:r>
            <a:r>
              <a:rPr lang="en-US" sz="1765" i="1">
                <a:latin typeface="Times New Roman"/>
                <a:ea typeface="Times New Roman"/>
                <a:cs typeface="Times New Roman"/>
                <a:sym typeface="Times New Roman"/>
              </a:rPr>
              <a:t>17</a:t>
            </a:r>
            <a:r>
              <a:rPr lang="en-US" sz="1765">
                <a:latin typeface="Times New Roman"/>
                <a:ea typeface="Times New Roman"/>
                <a:cs typeface="Times New Roman"/>
                <a:sym typeface="Times New Roman"/>
              </a:rPr>
              <a:t>(5), 507–520.</a:t>
            </a:r>
            <a:endParaRPr sz="1765"/>
          </a:p>
        </p:txBody>
      </p:sp>
    </p:spTree>
  </p:cSld>
  <p:clrMapOvr>
    <a:masterClrMapping/>
  </p:clrMapOvr>
</p:sld>
</file>

<file path=ppt/theme/theme1.xml><?xml version="1.0" encoding="utf-8"?>
<a:theme xmlns:a="http://schemas.openxmlformats.org/drawingml/2006/main"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1502</Words>
  <Application>Microsoft Macintosh PowerPoint</Application>
  <PresentationFormat>Widescreen</PresentationFormat>
  <Paragraphs>107</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Cambria</vt:lpstr>
      <vt:lpstr>Calibri</vt:lpstr>
      <vt:lpstr>Times New Roman</vt:lpstr>
      <vt:lpstr>Century Gothic</vt:lpstr>
      <vt:lpstr>Arial</vt:lpstr>
      <vt:lpstr>Noto Sans Symbols</vt:lpstr>
      <vt:lpstr>Wisp</vt:lpstr>
      <vt:lpstr>PowerPoint Presentation</vt:lpstr>
      <vt:lpstr>Introduction</vt:lpstr>
      <vt:lpstr>Objectives</vt:lpstr>
      <vt:lpstr>The Paper's Actual Contributions</vt:lpstr>
      <vt:lpstr>Two Different Jobs, Easy to Mix Up</vt:lpstr>
      <vt:lpstr>The Search Formula: f(n) = g(n) + h(n)</vt:lpstr>
      <vt:lpstr>How We Modeled the Airport: Zones as Nodes and Edges </vt:lpstr>
      <vt:lpstr>Results: Delayed Pushback in Action</vt:lpstr>
      <vt:lpstr>PowerPoint Presentation</vt:lpstr>
      <vt:lpstr>The Committed Conflict-Free Schedule</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Agyemang Ernest</dc:creator>
  <cp:lastModifiedBy>Agyemang Ernest</cp:lastModifiedBy>
  <cp:revision>4</cp:revision>
  <dcterms:created xsi:type="dcterms:W3CDTF">2026-07-24T10:30:21Z</dcterms:created>
  <dcterms:modified xsi:type="dcterms:W3CDTF">2026-08-01T08:54:27Z</dcterms:modified>
</cp:coreProperties>
</file>